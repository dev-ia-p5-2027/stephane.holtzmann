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49440" y="1005839"/>
            <a:ext cx="4480560" cy="4480560"/>
          </a:xfrm>
          <a:prstGeom prst="ellipse">
            <a:avLst/>
          </a:prstGeom>
          <a:noFill/>
          <a:ln w="9525">
            <a:solidFill>
              <a:srgbClr val="29D8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10881" y="1567281"/>
            <a:ext cx="3357676" cy="3357676"/>
          </a:xfrm>
          <a:prstGeom prst="ellipse">
            <a:avLst/>
          </a:prstGeom>
          <a:solidFill>
            <a:srgbClr val="0A0F1E"/>
          </a:solidFill>
          <a:ln>
            <a:noFill/>
          </a:ln>
          <a:effectLst>
            <a:glow rad="889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0" y="1600199"/>
            <a:ext cx="3291840" cy="3291840"/>
          </a:xfrm>
          <a:prstGeom prst="ellipse">
            <a:avLst/>
          </a:prstGeom>
          <a:solidFill>
            <a:srgbClr val="070B16"/>
          </a:solidFill>
          <a:ln w="12700">
            <a:solidFill>
              <a:srgbClr val="29D8FF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42555" y="1600199"/>
            <a:ext cx="1975104" cy="1975104"/>
          </a:xfrm>
          <a:prstGeom prst="ellipse">
            <a:avLst/>
          </a:prstGeom>
          <a:solidFill>
            <a:srgbClr val="172446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09636" y="2719425"/>
            <a:ext cx="3160166" cy="1053388"/>
          </a:xfrm>
          <a:prstGeom prst="ellipse">
            <a:avLst/>
          </a:prstGeom>
          <a:noFill/>
          <a:ln w="9525">
            <a:solidFill>
              <a:srgbClr val="29D8F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30107" y="1666036"/>
            <a:ext cx="1119225" cy="3160166"/>
          </a:xfrm>
          <a:prstGeom prst="ellipse">
            <a:avLst/>
          </a:prstGeom>
          <a:noFill/>
          <a:ln w="9525">
            <a:solidFill>
              <a:srgbClr val="29D8F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1440000">
            <a:off x="7774228" y="2423160"/>
            <a:ext cx="2830982" cy="1645920"/>
          </a:xfrm>
          <a:prstGeom prst="ellipse">
            <a:avLst/>
          </a:prstGeom>
          <a:noFill/>
          <a:ln w="9525">
            <a:solidFill>
              <a:srgbClr val="29D8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36433" y="2101547"/>
            <a:ext cx="906572" cy="906572"/>
          </a:xfrm>
          <a:prstGeom prst="ellipse">
            <a:avLst/>
          </a:prstGeom>
          <a:solidFill>
            <a:srgbClr val="8B9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45321" y="2077516"/>
            <a:ext cx="888796" cy="888796"/>
          </a:xfrm>
          <a:prstGeom prst="ellipse">
            <a:avLst/>
          </a:prstGeom>
          <a:solidFill>
            <a:srgbClr val="EA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23080" y="2281940"/>
            <a:ext cx="266639" cy="177759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78065" y="3385364"/>
            <a:ext cx="906572" cy="906572"/>
          </a:xfrm>
          <a:prstGeom prst="ellipse">
            <a:avLst/>
          </a:prstGeom>
          <a:solidFill>
            <a:srgbClr val="8B9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86953" y="3361334"/>
            <a:ext cx="888796" cy="888796"/>
          </a:xfrm>
          <a:prstGeom prst="ellipse">
            <a:avLst/>
          </a:prstGeom>
          <a:solidFill>
            <a:srgbClr val="EA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64712" y="3565757"/>
            <a:ext cx="266639" cy="177759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94801" y="3385364"/>
            <a:ext cx="906572" cy="906572"/>
          </a:xfrm>
          <a:prstGeom prst="ellipse">
            <a:avLst/>
          </a:prstGeom>
          <a:solidFill>
            <a:srgbClr val="8B9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03689" y="3361334"/>
            <a:ext cx="888796" cy="888796"/>
          </a:xfrm>
          <a:prstGeom prst="ellipse">
            <a:avLst/>
          </a:prstGeom>
          <a:solidFill>
            <a:srgbClr val="EA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81448" y="3565757"/>
            <a:ext cx="266639" cy="177759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10515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20">
                <a:solidFill>
                  <a:srgbClr val="29D8FF"/>
                </a:solidFill>
                <a:latin typeface="Inter"/>
              </a:rPr>
              <a:t>SOUTENANCE DE STAGE  ·  DÉVELOPPEUR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481328"/>
            <a:ext cx="7863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0">
                <a:solidFill>
                  <a:srgbClr val="EAF0FB"/>
                </a:solidFill>
                <a:latin typeface="Inter"/>
              </a:rPr>
              <a:t>BnDrS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926080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EAF0FB"/>
                </a:solidFill>
                <a:latin typeface="Inter"/>
              </a:rPr>
              <a:t>Moteur d’exploration </a:t>
            </a:r>
            <a:r>
              <a:rPr sz="2100" b="1" i="0">
                <a:solidFill>
                  <a:srgbClr val="29D8FF"/>
                </a:solidFill>
                <a:latin typeface="Inter"/>
              </a:rPr>
              <a:t>cognitive &amp; narrative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456432"/>
            <a:ext cx="6126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AA6C6"/>
                </a:solidFill>
                <a:latin typeface="Inter"/>
              </a:rPr>
              <a:t>Explorer un contenu sous plusieurs angles et en lire les tensions — sans jamais trancher le vrai du faux.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553712"/>
            <a:ext cx="36576" cy="1371600"/>
          </a:xfrm>
          <a:prstGeom prst="rect">
            <a:avLst/>
          </a:prstGeom>
          <a:solidFill>
            <a:srgbClr val="29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5537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120">
                <a:solidFill>
                  <a:srgbClr val="59647F"/>
                </a:solidFill>
                <a:latin typeface="Inter"/>
              </a:rPr>
              <a:t>PRÉSENTÉ PAR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782312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AF0FB"/>
                </a:solidFill>
                <a:latin typeface="Inter"/>
              </a:rPr>
              <a:t>Stéphane Holtzmann — promo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52486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120">
                <a:solidFill>
                  <a:srgbClr val="59647F"/>
                </a:solidFill>
                <a:latin typeface="Inter"/>
              </a:rPr>
              <a:t>STRUCTURE D’ACCUEIL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477256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AF0FB"/>
                </a:solidFill>
                <a:latin typeface="Inter"/>
              </a:rPr>
              <a:t>Association Koh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5537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120">
                <a:solidFill>
                  <a:srgbClr val="59647F"/>
                </a:solidFill>
                <a:latin typeface="Inter"/>
              </a:rPr>
              <a:t>RÉFÉRENT DE STAGE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782312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AF0FB"/>
                </a:solidFill>
                <a:latin typeface="Inter"/>
              </a:rPr>
              <a:t>Elias Baadgji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2486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120">
                <a:solidFill>
                  <a:srgbClr val="59647F"/>
                </a:solidFill>
                <a:latin typeface="Inter"/>
              </a:rPr>
              <a:t>RESPONSABLE DE 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477256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AF0FB"/>
                </a:solidFill>
                <a:latin typeface="Inter"/>
              </a:rPr>
              <a:t>Bassam Kurdy</a:t>
            </a:r>
          </a:p>
        </p:txBody>
      </p:sp>
      <p:sp>
        <p:nvSpPr>
          <p:cNvPr id="34" name="Oval 33"/>
          <p:cNvSpPr/>
          <p:nvPr/>
        </p:nvSpPr>
        <p:spPr>
          <a:xfrm>
            <a:off x="923544" y="6117336"/>
            <a:ext cx="91440" cy="91440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568" y="60533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C6"/>
                </a:solidFill>
                <a:latin typeface="Inter"/>
              </a:rPr>
              <a:t>en ligne — </a:t>
            </a:r>
            <a:r>
              <a:rPr sz="1200" b="1" i="0">
                <a:solidFill>
                  <a:srgbClr val="3FEE5C"/>
                </a:solidFill>
                <a:latin typeface="Inter"/>
              </a:rPr>
              <a:t>bndrs.fr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80">
                <a:solidFill>
                  <a:srgbClr val="29D8FF"/>
                </a:solidFill>
                <a:latin typeface="Inter"/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FB"/>
                </a:solidFill>
                <a:latin typeface="Inter"/>
              </a:rPr>
              <a:t>Déroulé de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960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9D8FF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2002536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AF0FB"/>
                </a:solidFill>
                <a:latin typeface="Inter"/>
              </a:rPr>
              <a:t>Structure d’accueil &amp; cadre du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386584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Koh AI · stage 1ʳᵉ année en distanciel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52344"/>
            <a:ext cx="603504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65960"/>
            <a:ext cx="960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4CC5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7" y="2002536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AF0FB"/>
                </a:solidFill>
                <a:latin typeface="Inter"/>
              </a:rPr>
              <a:t>Le besoin &amp; le positionnement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527" y="2386584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Ce que BNDRS est — et n’est 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898648"/>
            <a:ext cx="960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A862FF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2935224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AF0FB"/>
                </a:solidFill>
                <a:latin typeface="Inter"/>
              </a:rPr>
              <a:t>État de l’art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331927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Panorama des approches IA explorées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685032"/>
            <a:ext cx="603504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898648"/>
            <a:ext cx="960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3FEE5C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2935224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AF0FB"/>
                </a:solidFill>
                <a:latin typeface="Inter"/>
              </a:rPr>
              <a:t>Conception &amp; architecture technique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7" y="331927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Stack, choix justifiés, schéma système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831335"/>
            <a:ext cx="960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9621"/>
                </a:solidFill>
                <a:latin typeface="Inter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3867911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AF0FB"/>
                </a:solidFill>
                <a:latin typeface="Inter"/>
              </a:rPr>
              <a:t>Le concept AION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251959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Signaler → Explorer → Décider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617720"/>
            <a:ext cx="603504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3831335"/>
            <a:ext cx="960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5F2C2"/>
                </a:solidFill>
                <a:latin typeface="Inter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7" y="3867911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AF0FB"/>
                </a:solidFill>
                <a:latin typeface="Inter"/>
              </a:rPr>
              <a:t>Mise en œuvre &amp; gestion de projet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7" y="4251959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Du Computer Vision au déploiement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764024"/>
            <a:ext cx="960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E45C"/>
                </a:solidFill>
                <a:latin typeface="Inter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8488" y="480060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AF0FB"/>
                </a:solidFill>
                <a:latin typeface="Inter"/>
              </a:rPr>
              <a:t>Compétences &amp; retours d’expérience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8488" y="5184648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Cycle complet de développement 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550408"/>
            <a:ext cx="603504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4764024"/>
            <a:ext cx="960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9D8FF"/>
                </a:solidFill>
                <a:latin typeface="Inter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3527" y="480060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AF0FB"/>
                </a:solidFill>
                <a:latin typeface="Inter"/>
              </a:rPr>
              <a:t>Bilan, perspectives &amp; conclusion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7" y="5184648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Résultats obtenus et suites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9D8FF"/>
                </a:solidFill>
                <a:latin typeface="Inter"/>
              </a:rPr>
              <a:t>BNDRS</a:t>
            </a:r>
            <a:r>
              <a:rPr sz="1000" b="0" i="0">
                <a:solidFill>
                  <a:srgbClr val="59647F"/>
                </a:solidFill>
                <a:latin typeface="Inter"/>
              </a:rPr>
              <a:t>   ·   Soutenance de stage — DEV IA · Greta de Besançon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37215" y="6437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647F"/>
                </a:solidFill>
                <a:latin typeface="Inter"/>
              </a:rPr>
              <a:t>02</a:t>
            </a:r>
          </a:p>
        </p:txBody>
      </p:sp>
      <p:sp>
        <p:nvSpPr>
          <p:cNvPr id="37" name="Oval 36"/>
          <p:cNvSpPr/>
          <p:nvPr/>
        </p:nvSpPr>
        <p:spPr>
          <a:xfrm>
            <a:off x="11469319" y="6501384"/>
            <a:ext cx="91440" cy="9144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80">
                <a:solidFill>
                  <a:srgbClr val="29D8FF"/>
                </a:solidFill>
                <a:latin typeface="Inter"/>
              </a:rPr>
              <a:t>PRÉSENTATION DE LA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FB"/>
                </a:solidFill>
                <a:latin typeface="Inter"/>
              </a:rPr>
              <a:t>Koh AI — l’association &amp; le cadre du stage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1993391"/>
            <a:ext cx="219456" cy="219456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AF0FB"/>
                </a:solidFill>
                <a:latin typeface="Inter"/>
              </a:rPr>
              <a:t>Association Koh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AA6C6"/>
                </a:solidFill>
                <a:latin typeface="Inter"/>
              </a:rPr>
              <a:t>Collectif fondé par d’anciens étudiants DEV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2608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9D8FF"/>
                </a:solidFill>
                <a:latin typeface="Inter"/>
              </a:rPr>
              <a:t>Mission — </a:t>
            </a:r>
            <a:r>
              <a:rPr sz="1300" b="0" i="0">
                <a:solidFill>
                  <a:srgbClr val="EAF0FB"/>
                </a:solidFill>
                <a:latin typeface="Inter"/>
              </a:rPr>
              <a:t>accompagner les porteurs de projets et transformer leurs idées en systèmes IA concrets et évolutifs.</a:t>
            </a:r>
          </a:p>
        </p:txBody>
      </p:sp>
      <p:sp>
        <p:nvSpPr>
          <p:cNvPr id="11" name="Oval 10"/>
          <p:cNvSpPr/>
          <p:nvPr/>
        </p:nvSpPr>
        <p:spPr>
          <a:xfrm>
            <a:off x="617219" y="3890772"/>
            <a:ext cx="82296" cy="82296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AF0FB"/>
                </a:solidFill>
                <a:latin typeface="Inter"/>
              </a:rPr>
              <a:t>Origine — </a:t>
            </a:r>
            <a:r>
              <a:rPr sz="1200" b="0" i="0">
                <a:solidFill>
                  <a:srgbClr val="9AA6C6"/>
                </a:solidFill>
                <a:latin typeface="Inter"/>
              </a:rPr>
              <a:t>Créée par des DEV IA (dont Jimmy, mon tuteur)</a:t>
            </a:r>
          </a:p>
        </p:txBody>
      </p:sp>
      <p:sp>
        <p:nvSpPr>
          <p:cNvPr id="13" name="Oval 12"/>
          <p:cNvSpPr/>
          <p:nvPr/>
        </p:nvSpPr>
        <p:spPr>
          <a:xfrm>
            <a:off x="617219" y="4567428"/>
            <a:ext cx="82296" cy="82296"/>
          </a:xfrm>
          <a:prstGeom prst="ellipse">
            <a:avLst/>
          </a:prstGeom>
          <a:solidFill>
            <a:srgbClr val="FF4CC5"/>
          </a:solidFill>
          <a:ln>
            <a:noFill/>
          </a:ln>
          <a:effectLst>
            <a:glow rad="76200">
              <a:srgbClr val="FF4CC5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171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AF0FB"/>
                </a:solidFill>
                <a:latin typeface="Inter"/>
              </a:rPr>
              <a:t>Esprit — </a:t>
            </a:r>
            <a:r>
              <a:rPr sz="1200" b="0" i="0">
                <a:solidFill>
                  <a:srgbClr val="9AA6C6"/>
                </a:solidFill>
                <a:latin typeface="Inter"/>
              </a:rPr>
              <a:t>Entraide, projets réels, montée en compétence</a:t>
            </a:r>
          </a:p>
        </p:txBody>
      </p:sp>
      <p:sp>
        <p:nvSpPr>
          <p:cNvPr id="15" name="Oval 14"/>
          <p:cNvSpPr/>
          <p:nvPr/>
        </p:nvSpPr>
        <p:spPr>
          <a:xfrm>
            <a:off x="617219" y="5244083"/>
            <a:ext cx="82296" cy="82296"/>
          </a:xfrm>
          <a:prstGeom prst="ellipse">
            <a:avLst/>
          </a:prstGeom>
          <a:solidFill>
            <a:srgbClr val="A862FF"/>
          </a:solidFill>
          <a:ln>
            <a:noFill/>
          </a:ln>
          <a:effectLst>
            <a:glow rad="76200">
              <a:srgbClr val="A862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9379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AF0FB"/>
                </a:solidFill>
                <a:latin typeface="Inter"/>
              </a:rPr>
              <a:t>Mon stage — </a:t>
            </a:r>
            <a:r>
              <a:rPr sz="1200" b="0" i="0">
                <a:solidFill>
                  <a:srgbClr val="9AA6C6"/>
                </a:solidFill>
                <a:latin typeface="Inter"/>
              </a:rPr>
              <a:t>Pleinement intégré à leur 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920240"/>
            <a:ext cx="18288" cy="3931920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9202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spc="120">
                <a:solidFill>
                  <a:srgbClr val="29D8FF"/>
                </a:solidFill>
                <a:latin typeface="Inter"/>
              </a:rPr>
              <a:t>Cadre du stage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48716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29D8FF"/>
                </a:solidFill>
                <a:latin typeface="Inter"/>
              </a:rPr>
              <a:t>1ʳᵉ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606040"/>
            <a:ext cx="3017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C6"/>
                </a:solidFill>
                <a:latin typeface="Inter"/>
              </a:rPr>
              <a:t>année — DEV IA, Greta de Besançon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3236976"/>
            <a:ext cx="489204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355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4CC5"/>
                </a:solidFill>
                <a:latin typeface="Inter"/>
              </a:rPr>
              <a:t>2×3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474720"/>
            <a:ext cx="3017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C6"/>
                </a:solidFill>
                <a:latin typeface="Inter"/>
              </a:rPr>
              <a:t>semaines, réparties sur la période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4105656"/>
            <a:ext cx="489204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22452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A862FF"/>
                </a:solidFill>
                <a:latin typeface="Inter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343400"/>
            <a:ext cx="3017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C6"/>
                </a:solidFill>
                <a:latin typeface="Inter"/>
              </a:rPr>
              <a:t>distanciel — coordination via Discord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4974336"/>
            <a:ext cx="489204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509320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3FEE5C"/>
                </a:solidFill>
                <a:latin typeface="Inter"/>
              </a:rPr>
              <a:t>≈210 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5212080"/>
            <a:ext cx="3017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C6"/>
                </a:solidFill>
                <a:latin typeface="Inter"/>
              </a:rPr>
              <a:t>sur mon propre projet : BNDRS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9D8FF"/>
                </a:solidFill>
                <a:latin typeface="Inter"/>
              </a:rPr>
              <a:t>BNDRS</a:t>
            </a:r>
            <a:r>
              <a:rPr sz="1000" b="0" i="0">
                <a:solidFill>
                  <a:srgbClr val="59647F"/>
                </a:solidFill>
                <a:latin typeface="Inter"/>
              </a:rPr>
              <a:t>   ·   Soutenance de stage — DEV IA · Greta de Besançon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7215" y="6437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647F"/>
                </a:solidFill>
                <a:latin typeface="Inter"/>
              </a:rPr>
              <a:t>03</a:t>
            </a:r>
          </a:p>
        </p:txBody>
      </p:sp>
      <p:sp>
        <p:nvSpPr>
          <p:cNvPr id="32" name="Oval 31"/>
          <p:cNvSpPr/>
          <p:nvPr/>
        </p:nvSpPr>
        <p:spPr>
          <a:xfrm>
            <a:off x="11469319" y="6501384"/>
            <a:ext cx="91440" cy="9144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80">
                <a:solidFill>
                  <a:srgbClr val="29D8FF"/>
                </a:solidFill>
                <a:latin typeface="Inter"/>
              </a:rPr>
              <a:t>COMPRÉHENSION DU BESOIN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FB"/>
                </a:solidFill>
                <a:latin typeface="Inter"/>
              </a:rPr>
              <a:t>Le problème adressé — et le positionnement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C6"/>
                </a:solidFill>
                <a:latin typeface="Inter"/>
              </a:rPr>
              <a:t>Les outils actuels </a:t>
            </a:r>
            <a:r>
              <a:rPr sz="1400" b="1" i="0">
                <a:solidFill>
                  <a:srgbClr val="EAF0FB"/>
                </a:solidFill>
                <a:latin typeface="Inter"/>
              </a:rPr>
              <a:t>tranchent </a:t>
            </a:r>
            <a:r>
              <a:rPr sz="1400" b="0" i="0">
                <a:solidFill>
                  <a:srgbClr val="9AA6C6"/>
                </a:solidFill>
                <a:latin typeface="Inter"/>
              </a:rPr>
              <a:t>(vrai / faux). BNDRS propose plutôt d’</a:t>
            </a:r>
            <a:r>
              <a:rPr sz="1400" b="1" i="0">
                <a:solidFill>
                  <a:srgbClr val="29D8FF"/>
                </a:solidFill>
                <a:latin typeface="Inter"/>
              </a:rPr>
              <a:t>explorer </a:t>
            </a:r>
            <a:r>
              <a:rPr sz="1400" b="0" i="0">
                <a:solidFill>
                  <a:srgbClr val="9AA6C6"/>
                </a:solidFill>
                <a:latin typeface="Inter"/>
              </a:rPr>
              <a:t>un contenu et d’en révéler les tensions, émotions et angles de lecture.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697480"/>
            <a:ext cx="41148" cy="3108960"/>
          </a:xfrm>
          <a:prstGeom prst="rect">
            <a:avLst/>
          </a:prstGeom>
          <a:solidFill>
            <a:srgbClr val="3FE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697480"/>
            <a:ext cx="41148" cy="3108960"/>
          </a:xfrm>
          <a:prstGeom prst="rect">
            <a:avLst/>
          </a:prstGeom>
          <a:solidFill>
            <a:srgbClr val="3FEE5C"/>
          </a:solidFill>
          <a:ln>
            <a:noFill/>
          </a:ln>
          <a:effectLst>
            <a:glow rad="63500">
              <a:srgbClr val="3FEE5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19" y="2816352"/>
            <a:ext cx="182880" cy="182880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706624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FEE5C"/>
                </a:solidFill>
                <a:latin typeface="Inter"/>
              </a:rPr>
              <a:t>Ce que BNDRS est</a:t>
            </a:r>
          </a:p>
        </p:txBody>
      </p:sp>
      <p:sp>
        <p:nvSpPr>
          <p:cNvPr id="12" name="Oval 11"/>
          <p:cNvSpPr/>
          <p:nvPr/>
        </p:nvSpPr>
        <p:spPr>
          <a:xfrm>
            <a:off x="832103" y="3456432"/>
            <a:ext cx="73152" cy="73152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01568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AF0FB"/>
                </a:solidFill>
                <a:latin typeface="Inter"/>
              </a:rPr>
              <a:t>Un moteur d’exploration cognitive &amp; narrative</a:t>
            </a:r>
          </a:p>
        </p:txBody>
      </p:sp>
      <p:sp>
        <p:nvSpPr>
          <p:cNvPr id="14" name="Oval 13"/>
          <p:cNvSpPr/>
          <p:nvPr/>
        </p:nvSpPr>
        <p:spPr>
          <a:xfrm>
            <a:off x="832103" y="4059935"/>
            <a:ext cx="73152" cy="73152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05072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AF0FB"/>
                </a:solidFill>
                <a:latin typeface="Inter"/>
              </a:rPr>
              <a:t>Un révélateur de motifs, structures et tensions</a:t>
            </a:r>
          </a:p>
        </p:txBody>
      </p:sp>
      <p:sp>
        <p:nvSpPr>
          <p:cNvPr id="16" name="Oval 15"/>
          <p:cNvSpPr/>
          <p:nvPr/>
        </p:nvSpPr>
        <p:spPr>
          <a:xfrm>
            <a:off x="832103" y="4663440"/>
            <a:ext cx="73152" cy="73152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08576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AF0FB"/>
                </a:solidFill>
                <a:latin typeface="Inter"/>
              </a:rPr>
              <a:t>Un outil qui signale émotions, cadrage et omissions</a:t>
            </a:r>
          </a:p>
        </p:txBody>
      </p:sp>
      <p:sp>
        <p:nvSpPr>
          <p:cNvPr id="18" name="Oval 17"/>
          <p:cNvSpPr/>
          <p:nvPr/>
        </p:nvSpPr>
        <p:spPr>
          <a:xfrm>
            <a:off x="832103" y="5266944"/>
            <a:ext cx="73152" cy="73152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AF0FB"/>
                </a:solidFill>
                <a:latin typeface="Inter"/>
              </a:rPr>
              <a:t>Un espace où l’utilisateur garde la décision finale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697480"/>
            <a:ext cx="41148" cy="3108960"/>
          </a:xfrm>
          <a:prstGeom prst="rect">
            <a:avLst/>
          </a:prstGeom>
          <a:solidFill>
            <a:srgbClr val="FF9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697480"/>
            <a:ext cx="41148" cy="3108960"/>
          </a:xfrm>
          <a:prstGeom prst="rect">
            <a:avLst/>
          </a:prstGeom>
          <a:solidFill>
            <a:srgbClr val="FF9621"/>
          </a:solidFill>
          <a:ln>
            <a:noFill/>
          </a:ln>
          <a:effectLst>
            <a:glow rad="63500">
              <a:srgbClr val="FF9621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48272" y="2816352"/>
            <a:ext cx="182880" cy="182880"/>
          </a:xfrm>
          <a:prstGeom prst="ellipse">
            <a:avLst/>
          </a:prstGeom>
          <a:solidFill>
            <a:srgbClr val="FF9621"/>
          </a:solidFill>
          <a:ln>
            <a:noFill/>
          </a:ln>
          <a:effectLst>
            <a:glow rad="76200">
              <a:srgbClr val="FF9621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2706624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9621"/>
                </a:solidFill>
                <a:latin typeface="Inter"/>
              </a:rPr>
              <a:t>Ce que BNDRS n’est pas</a:t>
            </a:r>
          </a:p>
        </p:txBody>
      </p:sp>
      <p:sp>
        <p:nvSpPr>
          <p:cNvPr id="24" name="Oval 23"/>
          <p:cNvSpPr/>
          <p:nvPr/>
        </p:nvSpPr>
        <p:spPr>
          <a:xfrm>
            <a:off x="6620256" y="3456432"/>
            <a:ext cx="73152" cy="73152"/>
          </a:xfrm>
          <a:prstGeom prst="ellipse">
            <a:avLst/>
          </a:prstGeom>
          <a:solidFill>
            <a:srgbClr val="FF9621"/>
          </a:solidFill>
          <a:ln>
            <a:noFill/>
          </a:ln>
          <a:effectLst>
            <a:glow rad="76200">
              <a:srgbClr val="FF9621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85432" y="3401568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AF0FB"/>
                </a:solidFill>
                <a:latin typeface="Inter"/>
              </a:rPr>
              <a:t>Un fact-checker — il ne tranche pas le vrai / faux</a:t>
            </a:r>
          </a:p>
        </p:txBody>
      </p:sp>
      <p:sp>
        <p:nvSpPr>
          <p:cNvPr id="26" name="Oval 25"/>
          <p:cNvSpPr/>
          <p:nvPr/>
        </p:nvSpPr>
        <p:spPr>
          <a:xfrm>
            <a:off x="6620256" y="4059935"/>
            <a:ext cx="73152" cy="73152"/>
          </a:xfrm>
          <a:prstGeom prst="ellipse">
            <a:avLst/>
          </a:prstGeom>
          <a:solidFill>
            <a:srgbClr val="FF9621"/>
          </a:solidFill>
          <a:ln>
            <a:noFill/>
          </a:ln>
          <a:effectLst>
            <a:glow rad="76200">
              <a:srgbClr val="FF9621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85432" y="4005072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AF0FB"/>
                </a:solidFill>
                <a:latin typeface="Inter"/>
              </a:rPr>
              <a:t>Un juge d’intention — aucun procès d’auteur</a:t>
            </a:r>
          </a:p>
        </p:txBody>
      </p:sp>
      <p:sp>
        <p:nvSpPr>
          <p:cNvPr id="28" name="Oval 27"/>
          <p:cNvSpPr/>
          <p:nvPr/>
        </p:nvSpPr>
        <p:spPr>
          <a:xfrm>
            <a:off x="6620256" y="4663440"/>
            <a:ext cx="73152" cy="73152"/>
          </a:xfrm>
          <a:prstGeom prst="ellipse">
            <a:avLst/>
          </a:prstGeom>
          <a:solidFill>
            <a:srgbClr val="FF9621"/>
          </a:solidFill>
          <a:ln>
            <a:noFill/>
          </a:ln>
          <a:effectLst>
            <a:glow rad="76200">
              <a:srgbClr val="FF9621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2" y="4608576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AF0FB"/>
                </a:solidFill>
                <a:latin typeface="Inter"/>
              </a:rPr>
              <a:t>Une vérité affichée — la lumière = tension, pas certitude</a:t>
            </a:r>
          </a:p>
        </p:txBody>
      </p:sp>
      <p:sp>
        <p:nvSpPr>
          <p:cNvPr id="30" name="Oval 29"/>
          <p:cNvSpPr/>
          <p:nvPr/>
        </p:nvSpPr>
        <p:spPr>
          <a:xfrm>
            <a:off x="6620256" y="5266944"/>
            <a:ext cx="73152" cy="73152"/>
          </a:xfrm>
          <a:prstGeom prst="ellipse">
            <a:avLst/>
          </a:prstGeom>
          <a:solidFill>
            <a:srgbClr val="FF9621"/>
          </a:solidFill>
          <a:ln>
            <a:noFill/>
          </a:ln>
          <a:effectLst>
            <a:glow rad="76200">
              <a:srgbClr val="FF9621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85432" y="521208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AF0FB"/>
                </a:solidFill>
                <a:latin typeface="Inter"/>
              </a:rPr>
              <a:t>Une boîte noire — l’exploration reste optionnelle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9D8FF"/>
                </a:solidFill>
                <a:latin typeface="Inter"/>
              </a:rPr>
              <a:t>BNDRS</a:t>
            </a:r>
            <a:r>
              <a:rPr sz="1000" b="0" i="0">
                <a:solidFill>
                  <a:srgbClr val="59647F"/>
                </a:solidFill>
                <a:latin typeface="Inter"/>
              </a:rPr>
              <a:t>   ·   Soutenance de stage — DEV IA · Greta de Besançon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37215" y="6437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647F"/>
                </a:solidFill>
                <a:latin typeface="Inter"/>
              </a:rPr>
              <a:t>04</a:t>
            </a:r>
          </a:p>
        </p:txBody>
      </p:sp>
      <p:sp>
        <p:nvSpPr>
          <p:cNvPr id="34" name="Oval 33"/>
          <p:cNvSpPr/>
          <p:nvPr/>
        </p:nvSpPr>
        <p:spPr>
          <a:xfrm>
            <a:off x="11469319" y="6501384"/>
            <a:ext cx="91440" cy="9144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80">
                <a:solidFill>
                  <a:srgbClr val="29D8FF"/>
                </a:solidFill>
                <a:latin typeface="Inter"/>
              </a:rPr>
              <a:t>ÉTAT DE L’ART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FB"/>
                </a:solidFill>
                <a:latin typeface="Inter"/>
              </a:rPr>
              <a:t>Panorama des approches IA explorées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9AA6C6"/>
                </a:solidFill>
                <a:latin typeface="Inter"/>
              </a:rPr>
              <a:t>Chaque brique a été choisie après une veille comparative — compétence clé du référentiel.</a:t>
            </a:r>
          </a:p>
        </p:txBody>
      </p:sp>
      <p:sp>
        <p:nvSpPr>
          <p:cNvPr id="8" name="Oval 7"/>
          <p:cNvSpPr/>
          <p:nvPr/>
        </p:nvSpPr>
        <p:spPr>
          <a:xfrm>
            <a:off x="585216" y="2386584"/>
            <a:ext cx="182880" cy="18288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3317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LLM &amp;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715768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Compréhension et génération de texte : tokenisation, embeddings, inférence locale via Ollama.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" y="3355848"/>
            <a:ext cx="507492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65976" y="2386584"/>
            <a:ext cx="182880" cy="182880"/>
          </a:xfrm>
          <a:prstGeom prst="ellipse">
            <a:avLst/>
          </a:prstGeom>
          <a:solidFill>
            <a:srgbClr val="FF4CC5"/>
          </a:solidFill>
          <a:ln>
            <a:noFill/>
          </a:ln>
          <a:effectLst>
            <a:glow rad="76200">
              <a:srgbClr val="FF4CC5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31736" y="23317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Computer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6" y="2715768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Détection d’objets (YOLO) et traitement d’images (OpenCV) — point de départ du stage.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31736" y="3355848"/>
            <a:ext cx="507492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5216" y="3593592"/>
            <a:ext cx="182880" cy="182880"/>
          </a:xfrm>
          <a:prstGeom prst="ellipse">
            <a:avLst/>
          </a:prstGeom>
          <a:solidFill>
            <a:srgbClr val="A862FF"/>
          </a:solidFill>
          <a:ln>
            <a:noFill/>
          </a:ln>
          <a:effectLst>
            <a:glow rad="76200">
              <a:srgbClr val="A862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3872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Fact-checking &amp; sentiment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922776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Approches qui tranchent ou notent — leurs limites définissent le créneau de BNDRS.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" y="4562856"/>
            <a:ext cx="507492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65976" y="3593592"/>
            <a:ext cx="182880" cy="182880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1736" y="353872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LLM locaux &amp; souveraineté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3922776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Modèles auto-hébergés (Ollama) : confidentialité des données, maîtrise des coûts.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31736" y="4562856"/>
            <a:ext cx="507492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5216" y="4800600"/>
            <a:ext cx="182880" cy="182880"/>
          </a:xfrm>
          <a:prstGeom prst="ellipse">
            <a:avLst/>
          </a:prstGeom>
          <a:solidFill>
            <a:srgbClr val="FF9621"/>
          </a:solidFill>
          <a:ln>
            <a:noFill/>
          </a:ln>
          <a:effectLst>
            <a:glow rad="76200">
              <a:srgbClr val="FF9621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74573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Agents &amp;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129783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Workflows et agents (N8N) pour router les tâches vers le bon modèle.</a:t>
            </a:r>
          </a:p>
        </p:txBody>
      </p:sp>
      <p:sp>
        <p:nvSpPr>
          <p:cNvPr id="27" name="Oval 26"/>
          <p:cNvSpPr/>
          <p:nvPr/>
        </p:nvSpPr>
        <p:spPr>
          <a:xfrm>
            <a:off x="6665976" y="4800600"/>
            <a:ext cx="182880" cy="182880"/>
          </a:xfrm>
          <a:prstGeom prst="ellipse">
            <a:avLst/>
          </a:prstGeom>
          <a:solidFill>
            <a:srgbClr val="25F2C2"/>
          </a:solidFill>
          <a:ln>
            <a:noFill/>
          </a:ln>
          <a:effectLst>
            <a:glow rad="76200">
              <a:srgbClr val="25F2C2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31736" y="474573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Prompt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1736" y="5129783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Cadrage des modèles : Seed / TopK pour des sorties stables et reproductibles.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9D8FF"/>
                </a:solidFill>
                <a:latin typeface="Inter"/>
              </a:rPr>
              <a:t>BNDRS</a:t>
            </a:r>
            <a:r>
              <a:rPr sz="1000" b="0" i="0">
                <a:solidFill>
                  <a:srgbClr val="59647F"/>
                </a:solidFill>
                <a:latin typeface="Inter"/>
              </a:rPr>
              <a:t>   ·   Soutenance de stage — DEV IA · Greta de Besançon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7215" y="6437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647F"/>
                </a:solidFill>
                <a:latin typeface="Inter"/>
              </a:rPr>
              <a:t>05</a:t>
            </a:r>
          </a:p>
        </p:txBody>
      </p:sp>
      <p:sp>
        <p:nvSpPr>
          <p:cNvPr id="32" name="Oval 31"/>
          <p:cNvSpPr/>
          <p:nvPr/>
        </p:nvSpPr>
        <p:spPr>
          <a:xfrm>
            <a:off x="11469319" y="6501384"/>
            <a:ext cx="91440" cy="9144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80">
                <a:solidFill>
                  <a:srgbClr val="29D8FF"/>
                </a:solidFill>
                <a:latin typeface="Inter"/>
              </a:rPr>
              <a:t>CONCEPTION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FB"/>
                </a:solidFill>
                <a:latin typeface="Inter"/>
              </a:rPr>
              <a:t>Choix technologiques justifiés</a:t>
            </a:r>
          </a:p>
        </p:txBody>
      </p:sp>
      <p:sp>
        <p:nvSpPr>
          <p:cNvPr id="7" name="Oval 6"/>
          <p:cNvSpPr/>
          <p:nvPr/>
        </p:nvSpPr>
        <p:spPr>
          <a:xfrm>
            <a:off x="667512" y="2130552"/>
            <a:ext cx="164592" cy="164592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AF0FB"/>
                </a:solidFill>
                <a:latin typeface="Inter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48256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9D8FF"/>
                </a:solidFill>
                <a:latin typeface="Consolas"/>
              </a:rPr>
              <a:t>Python · FastAPI · 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029968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AA6C6"/>
                </a:solidFill>
                <a:latin typeface="Inter"/>
              </a:rPr>
              <a:t>Asynchrone, performant, documentation auto, persistance légère.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724912"/>
            <a:ext cx="1051560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3118104"/>
            <a:ext cx="164592" cy="164592"/>
          </a:xfrm>
          <a:prstGeom prst="ellipse">
            <a:avLst/>
          </a:prstGeom>
          <a:solidFill>
            <a:srgbClr val="FF4CC5"/>
          </a:solidFill>
          <a:ln>
            <a:noFill/>
          </a:ln>
          <a:effectLst>
            <a:glow rad="76200">
              <a:srgbClr val="FF4CC5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9923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AF0FB"/>
                </a:solidFill>
                <a:latin typeface="Inter"/>
              </a:rPr>
              <a:t>Frontends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035808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4CC5"/>
                </a:solidFill>
                <a:latin typeface="Consolas"/>
              </a:rPr>
              <a:t>React · Vite — public + cockpit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017520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AA6C6"/>
                </a:solidFill>
                <a:latin typeface="Inter"/>
              </a:rPr>
              <a:t>Deux interfaces distinctes : utilisateur et administration.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712464"/>
            <a:ext cx="1051560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4105656"/>
            <a:ext cx="164592" cy="164592"/>
          </a:xfrm>
          <a:prstGeom prst="ellipse">
            <a:avLst/>
          </a:prstGeom>
          <a:solidFill>
            <a:srgbClr val="A862FF"/>
          </a:solidFill>
          <a:ln>
            <a:noFill/>
          </a:ln>
          <a:effectLst>
            <a:glow rad="76200">
              <a:srgbClr val="A862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86784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AF0FB"/>
                </a:solidFill>
                <a:latin typeface="Inter"/>
              </a:rPr>
              <a:t>IA locale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2336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A862FF"/>
                </a:solidFill>
                <a:latin typeface="Consolas"/>
              </a:rPr>
              <a:t>Ollama · LLM auto-hébergés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005072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AA6C6"/>
                </a:solidFill>
                <a:latin typeface="Inter"/>
              </a:rPr>
              <a:t>Souveraineté des données, pas de dépendance cloud, coûts maîtrisés.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4700016"/>
            <a:ext cx="1051560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" y="5093208"/>
            <a:ext cx="164592" cy="164592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97433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AF0FB"/>
                </a:solidFill>
                <a:latin typeface="Inter"/>
              </a:rPr>
              <a:t>Déploiement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010912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FEE5C"/>
                </a:solidFill>
                <a:latin typeface="Consolas"/>
              </a:rPr>
              <a:t>Serveur Hetzner · Caddy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992624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AA6C6"/>
                </a:solidFill>
                <a:latin typeface="Inter"/>
              </a:rPr>
              <a:t>Reverse proxy + HTTPS automatique, mise en ligne sur bndrs.fr.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9D8FF"/>
                </a:solidFill>
                <a:latin typeface="Inter"/>
              </a:rPr>
              <a:t>BNDRS</a:t>
            </a:r>
            <a:r>
              <a:rPr sz="1000" b="0" i="0">
                <a:solidFill>
                  <a:srgbClr val="59647F"/>
                </a:solidFill>
                <a:latin typeface="Inter"/>
              </a:rPr>
              <a:t>   ·   Soutenance de stage — DEV IA · Greta de Besançon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7215" y="6437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647F"/>
                </a:solidFill>
                <a:latin typeface="Inter"/>
              </a:rPr>
              <a:t>06</a:t>
            </a:r>
          </a:p>
        </p:txBody>
      </p:sp>
      <p:sp>
        <p:nvSpPr>
          <p:cNvPr id="28" name="Oval 27"/>
          <p:cNvSpPr/>
          <p:nvPr/>
        </p:nvSpPr>
        <p:spPr>
          <a:xfrm>
            <a:off x="11469319" y="6501384"/>
            <a:ext cx="91440" cy="9144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80">
                <a:solidFill>
                  <a:srgbClr val="29D8FF"/>
                </a:solidFill>
                <a:latin typeface="Inter"/>
              </a:rPr>
              <a:t>ARCHITECTURE DU SYSTÈME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FB"/>
                </a:solidFill>
                <a:latin typeface="Inter"/>
              </a:rPr>
              <a:t>Vue d’ensemble technique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2286000"/>
            <a:ext cx="7982712" cy="36576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0283F">
                <a:alpha val="80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9D8FF"/>
                </a:solidFill>
                <a:latin typeface="Inter"/>
              </a:rPr>
              <a:t>SERVEUR HETZNER</a:t>
            </a:r>
            <a:r>
              <a:rPr sz="1050" b="0" i="0">
                <a:solidFill>
                  <a:srgbClr val="59647F"/>
                </a:solidFill>
                <a:latin typeface="Inter"/>
              </a:rPr>
              <a:t>   ·   déploiement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4612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0B0F1C"/>
          </a:solidFill>
          <a:ln w="15875">
            <a:solidFill>
              <a:srgbClr val="2028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364991"/>
            <a:ext cx="19476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AF0FB"/>
                </a:solidFill>
                <a:latin typeface="Inter"/>
              </a:rPr>
              <a:t>Utilisateur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251959"/>
            <a:ext cx="1947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6C6"/>
                </a:solidFill>
                <a:latin typeface="Consolas"/>
              </a:rPr>
              <a:t>navigateur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9D8FF"/>
                </a:solidFill>
                <a:latin typeface="Inter"/>
              </a:rPr>
              <a:t>◐  visiteur /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20040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0B0F1C"/>
          </a:solidFill>
          <a:ln w="15875">
            <a:solidFill>
              <a:srgbClr val="29D8FF"/>
            </a:solidFill>
          </a:ln>
          <a:effectLst>
            <a:glow rad="76200">
              <a:srgbClr val="29D8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87952" y="3319272"/>
            <a:ext cx="16276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9D8FF"/>
                </a:solidFill>
                <a:latin typeface="Inter"/>
              </a:rPr>
              <a:t>Caddy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4251959"/>
            <a:ext cx="16276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6C6"/>
                </a:solidFill>
                <a:latin typeface="Consolas"/>
              </a:rPr>
              <a:t>reverse 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822191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9D8FF"/>
                </a:solidFill>
                <a:latin typeface="Consolas"/>
              </a:rPr>
              <a:t>HTTPS · bndrs.fr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6974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B0F1C"/>
          </a:solidFill>
          <a:ln w="15875">
            <a:solidFill>
              <a:srgbClr val="FF4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816352"/>
            <a:ext cx="19476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AF0FB"/>
                </a:solidFill>
                <a:latin typeface="Inter"/>
              </a:rPr>
              <a:t>Frontend public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1947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6C6"/>
                </a:solidFill>
                <a:latin typeface="Consolas"/>
              </a:rPr>
              <a:t>React · Vite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3749039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B0F1C"/>
          </a:solidFill>
          <a:ln w="15875">
            <a:solidFill>
              <a:srgbClr val="FF4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867911"/>
            <a:ext cx="19476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AF0FB"/>
                </a:solidFill>
                <a:latin typeface="Inter"/>
              </a:rPr>
              <a:t>Frontend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97679"/>
            <a:ext cx="1947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6C6"/>
                </a:solidFill>
                <a:latin typeface="Consolas"/>
              </a:rPr>
              <a:t>cockpit React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20040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0B0F1C"/>
          </a:solidFill>
          <a:ln w="15875">
            <a:solidFill>
              <a:srgbClr val="A862FF"/>
            </a:solidFill>
          </a:ln>
          <a:effectLst>
            <a:glow rad="76200">
              <a:srgbClr val="A862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9992" y="3319272"/>
            <a:ext cx="20391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A862FF"/>
                </a:solidFill>
                <a:latin typeface="Inter"/>
              </a:rPr>
              <a:t>Backend 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251959"/>
            <a:ext cx="2039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6C6"/>
                </a:solidFill>
                <a:latin typeface="Consolas"/>
              </a:rPr>
              <a:t>API REST · 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7648" y="4892040"/>
            <a:ext cx="2240280" cy="841248"/>
          </a:xfrm>
          <a:prstGeom prst="roundRect">
            <a:avLst>
              <a:gd name="adj" fmla="val 8000"/>
            </a:avLst>
          </a:prstGeom>
          <a:solidFill>
            <a:srgbClr val="0B0F1C"/>
          </a:solidFill>
          <a:ln w="15875">
            <a:solidFill>
              <a:srgbClr val="2028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010912"/>
            <a:ext cx="19476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AF0FB"/>
                </a:solidFill>
                <a:latin typeface="Inter"/>
              </a:rPr>
              <a:t>SQLite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67527"/>
            <a:ext cx="1947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6C6"/>
                </a:solidFill>
                <a:latin typeface="Consolas"/>
              </a:rPr>
              <a:t>données / sessions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4892040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0B0F1C"/>
          </a:solidFill>
          <a:ln w="15875">
            <a:solidFill>
              <a:srgbClr val="3FE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9992" y="5010912"/>
            <a:ext cx="20391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FEE5C"/>
                </a:solidFill>
                <a:latin typeface="Inter"/>
              </a:rPr>
              <a:t>Ollama — LLM local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5367527"/>
            <a:ext cx="2039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6C6"/>
                </a:solidFill>
                <a:latin typeface="Consolas"/>
              </a:rPr>
              <a:t>inférence IA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788920" y="3822191"/>
            <a:ext cx="1143000" cy="128016"/>
          </a:xfrm>
          <a:prstGeom prst="rightArrow">
            <a:avLst/>
          </a:prstGeom>
          <a:solidFill>
            <a:srgbClr val="29D8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5989320" y="3822191"/>
            <a:ext cx="274320" cy="128016"/>
          </a:xfrm>
          <a:prstGeom prst="rightArrow">
            <a:avLst/>
          </a:prstGeom>
          <a:solidFill>
            <a:srgbClr val="29D8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8613648" y="3822191"/>
            <a:ext cx="246888" cy="128016"/>
          </a:xfrm>
          <a:prstGeom prst="rightArrow">
            <a:avLst/>
          </a:prstGeom>
          <a:solidFill>
            <a:srgbClr val="29D8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88352" y="4736592"/>
            <a:ext cx="2688336" cy="27432"/>
          </a:xfrm>
          <a:prstGeom prst="rect">
            <a:avLst/>
          </a:prstGeom>
          <a:solidFill>
            <a:srgbClr val="A862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wn Arrow 35"/>
          <p:cNvSpPr/>
          <p:nvPr/>
        </p:nvSpPr>
        <p:spPr>
          <a:xfrm>
            <a:off x="10021824" y="4608576"/>
            <a:ext cx="109728" cy="164592"/>
          </a:xfrm>
          <a:prstGeom prst="downArrow">
            <a:avLst/>
          </a:prstGeom>
          <a:solidFill>
            <a:srgbClr val="A862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own Arrow 36"/>
          <p:cNvSpPr/>
          <p:nvPr/>
        </p:nvSpPr>
        <p:spPr>
          <a:xfrm>
            <a:off x="7388352" y="4745736"/>
            <a:ext cx="109728" cy="182880"/>
          </a:xfrm>
          <a:prstGeom prst="downArrow">
            <a:avLst/>
          </a:prstGeom>
          <a:solidFill>
            <a:srgbClr val="A862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10021824" y="4745736"/>
            <a:ext cx="109728" cy="182880"/>
          </a:xfrm>
          <a:prstGeom prst="downArrow">
            <a:avLst/>
          </a:prstGeom>
          <a:solidFill>
            <a:srgbClr val="3FEE5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07161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9D8FF"/>
                </a:solidFill>
                <a:latin typeface="Inter"/>
              </a:rPr>
              <a:t>Flux  </a:t>
            </a:r>
            <a:r>
              <a:rPr sz="1050" b="0" i="0">
                <a:solidFill>
                  <a:srgbClr val="9AA6C6"/>
                </a:solidFill>
                <a:latin typeface="Inter"/>
              </a:rPr>
              <a:t>l’utilisateur passe par Caddy (HTTPS) → frontends React → API FastAPI, qui orchestre SQLite et les modèles Ollama en local.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9D8FF"/>
                </a:solidFill>
                <a:latin typeface="Inter"/>
              </a:rPr>
              <a:t>BNDRS</a:t>
            </a:r>
            <a:r>
              <a:rPr sz="1000" b="0" i="0">
                <a:solidFill>
                  <a:srgbClr val="59647F"/>
                </a:solidFill>
                <a:latin typeface="Inter"/>
              </a:rPr>
              <a:t>   ·   Soutenance de stage — DEV IA · Greta de Besançon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37215" y="6437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647F"/>
                </a:solidFill>
                <a:latin typeface="Inter"/>
              </a:rPr>
              <a:t>07</a:t>
            </a:r>
          </a:p>
        </p:txBody>
      </p:sp>
      <p:sp>
        <p:nvSpPr>
          <p:cNvPr id="42" name="Oval 41"/>
          <p:cNvSpPr/>
          <p:nvPr/>
        </p:nvSpPr>
        <p:spPr>
          <a:xfrm>
            <a:off x="11469319" y="6501384"/>
            <a:ext cx="91440" cy="9144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80">
                <a:solidFill>
                  <a:srgbClr val="29D8FF"/>
                </a:solidFill>
                <a:latin typeface="Inter"/>
              </a:rPr>
              <a:t>LE CONCEPT AION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FB"/>
                </a:solidFill>
                <a:latin typeface="Inter"/>
              </a:rPr>
              <a:t>Signaler → Explorer → Décider</a:t>
            </a:r>
          </a:p>
        </p:txBody>
      </p:sp>
      <p:sp>
        <p:nvSpPr>
          <p:cNvPr id="7" name="Oval 6"/>
          <p:cNvSpPr/>
          <p:nvPr/>
        </p:nvSpPr>
        <p:spPr>
          <a:xfrm>
            <a:off x="8472830" y="2483510"/>
            <a:ext cx="3171139" cy="3171139"/>
          </a:xfrm>
          <a:prstGeom prst="ellipse">
            <a:avLst/>
          </a:prstGeom>
          <a:solidFill>
            <a:srgbClr val="0A0F1E"/>
          </a:solidFill>
          <a:ln>
            <a:noFill/>
          </a:ln>
          <a:effectLst>
            <a:glow rad="889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0" y="2514600"/>
            <a:ext cx="3108960" cy="3108960"/>
          </a:xfrm>
          <a:prstGeom prst="ellipse">
            <a:avLst/>
          </a:prstGeom>
          <a:solidFill>
            <a:srgbClr val="070B16"/>
          </a:solidFill>
          <a:ln w="12700">
            <a:solidFill>
              <a:srgbClr val="29D8FF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7188" y="2514600"/>
            <a:ext cx="1865376" cy="1865376"/>
          </a:xfrm>
          <a:prstGeom prst="ellipse">
            <a:avLst/>
          </a:prstGeom>
          <a:solidFill>
            <a:srgbClr val="172446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66099" y="3571646"/>
            <a:ext cx="2984601" cy="994867"/>
          </a:xfrm>
          <a:prstGeom prst="ellipse">
            <a:avLst/>
          </a:prstGeom>
          <a:noFill/>
          <a:ln w="9525">
            <a:solidFill>
              <a:srgbClr val="29D8F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29876" y="2576779"/>
            <a:ext cx="1057046" cy="2984601"/>
          </a:xfrm>
          <a:prstGeom prst="ellipse">
            <a:avLst/>
          </a:prstGeom>
          <a:noFill/>
          <a:ln w="9525">
            <a:solidFill>
              <a:srgbClr val="29D8F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440000">
            <a:off x="8721547" y="3291840"/>
            <a:ext cx="2673705" cy="1554480"/>
          </a:xfrm>
          <a:prstGeom prst="ellipse">
            <a:avLst/>
          </a:prstGeom>
          <a:noFill/>
          <a:ln w="9525">
            <a:solidFill>
              <a:srgbClr val="29D8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17704" y="2944413"/>
            <a:ext cx="881390" cy="88139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889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38690" y="2965399"/>
            <a:ext cx="839419" cy="839419"/>
          </a:xfrm>
          <a:prstGeom prst="ellipse">
            <a:avLst/>
          </a:prstGeom>
          <a:solidFill>
            <a:srgbClr val="29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06574" y="3158465"/>
            <a:ext cx="251825" cy="167883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95912" y="4156908"/>
            <a:ext cx="881390" cy="881390"/>
          </a:xfrm>
          <a:prstGeom prst="ellipse">
            <a:avLst/>
          </a:prstGeom>
          <a:solidFill>
            <a:srgbClr val="FF4CC5"/>
          </a:solidFill>
          <a:ln>
            <a:noFill/>
          </a:ln>
          <a:effectLst>
            <a:glow rad="88900">
              <a:srgbClr val="FF4CC5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16898" y="4177893"/>
            <a:ext cx="839419" cy="839419"/>
          </a:xfrm>
          <a:prstGeom prst="ellipse">
            <a:avLst/>
          </a:prstGeom>
          <a:solidFill>
            <a:srgbClr val="FF4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84782" y="4370960"/>
            <a:ext cx="251825" cy="167883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39496" y="4156908"/>
            <a:ext cx="881390" cy="881390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889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60482" y="4177893"/>
            <a:ext cx="839419" cy="839419"/>
          </a:xfrm>
          <a:prstGeom prst="ellipse">
            <a:avLst/>
          </a:prstGeom>
          <a:solidFill>
            <a:srgbClr val="3FE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8366" y="4370960"/>
            <a:ext cx="251825" cy="167883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1664208"/>
            <a:ext cx="7680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AA6C6"/>
                </a:solidFill>
                <a:latin typeface="Inter"/>
              </a:rPr>
              <a:t>La </a:t>
            </a:r>
            <a:r>
              <a:rPr sz="1350" b="1" i="0">
                <a:solidFill>
                  <a:srgbClr val="29D8FF"/>
                </a:solidFill>
                <a:latin typeface="Inter"/>
              </a:rPr>
              <a:t>sphère AION</a:t>
            </a:r>
            <a:r>
              <a:rPr sz="1350" b="0" i="0">
                <a:solidFill>
                  <a:srgbClr val="9AA6C6"/>
                </a:solidFill>
                <a:latin typeface="Inter"/>
              </a:rPr>
              <a:t> est l’unique objet visuel de l’app : identité, mémoire d’analyse et carte des tensions. La lumière = activité analytique, jamais une vérité.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" y="2816352"/>
            <a:ext cx="621792" cy="621792"/>
          </a:xfrm>
          <a:prstGeom prst="ellipse">
            <a:avLst/>
          </a:prstGeom>
          <a:solidFill>
            <a:srgbClr val="0B0F1C"/>
          </a:solidFill>
          <a:ln w="22225">
            <a:solidFill>
              <a:srgbClr val="29D8FF"/>
            </a:solidFill>
          </a:ln>
          <a:effectLst>
            <a:glow rad="76200">
              <a:srgbClr val="29D8FF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2816352"/>
            <a:ext cx="6217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29D8FF"/>
                </a:solidFill>
                <a:latin typeface="Inter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2798064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AF0FB"/>
                </a:solidFill>
                <a:latin typeface="Inter"/>
              </a:rPr>
              <a:t>Signaler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2779776"/>
            <a:ext cx="4846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AA6C6"/>
                </a:solidFill>
                <a:latin typeface="Inter"/>
              </a:rPr>
              <a:t>BNDRS montre : émotions dominantes, narration, cadrage, omissions potentielles, signaux d’influence.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81328" y="3584448"/>
            <a:ext cx="685800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9224" y="3877056"/>
            <a:ext cx="621792" cy="621792"/>
          </a:xfrm>
          <a:prstGeom prst="ellipse">
            <a:avLst/>
          </a:prstGeom>
          <a:solidFill>
            <a:srgbClr val="0B0F1C"/>
          </a:solidFill>
          <a:ln w="22225">
            <a:solidFill>
              <a:srgbClr val="FF4CC5"/>
            </a:solidFill>
          </a:ln>
          <a:effectLst>
            <a:glow rad="76200">
              <a:srgbClr val="FF4CC5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3877056"/>
            <a:ext cx="6217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4CC5"/>
                </a:solidFill>
                <a:latin typeface="Inter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3858768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AF0FB"/>
                </a:solidFill>
                <a:latin typeface="Inter"/>
              </a:rPr>
              <a:t>Explorer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840480"/>
            <a:ext cx="4846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AA6C6"/>
                </a:solidFill>
                <a:latin typeface="Inter"/>
              </a:rPr>
              <a:t>Optionnel — si l’utilisateur veut creuser : contextualisation, comparaison de sources, contrepoints.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81328" y="4645152"/>
            <a:ext cx="685800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9224" y="4937760"/>
            <a:ext cx="621792" cy="621792"/>
          </a:xfrm>
          <a:prstGeom prst="ellipse">
            <a:avLst/>
          </a:prstGeom>
          <a:solidFill>
            <a:srgbClr val="0B0F1C"/>
          </a:solidFill>
          <a:ln w="22225">
            <a:solidFill>
              <a:srgbClr val="3FEE5C"/>
            </a:solidFill>
          </a:ln>
          <a:effectLst>
            <a:glow rad="76200">
              <a:srgbClr val="3FEE5C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4937760"/>
            <a:ext cx="6217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3FEE5C"/>
                </a:solidFill>
                <a:latin typeface="Inter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919472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AF0FB"/>
                </a:solidFill>
                <a:latin typeface="Inter"/>
              </a:rPr>
              <a:t>Décider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901184"/>
            <a:ext cx="4846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AA6C6"/>
                </a:solidFill>
                <a:latin typeface="Inter"/>
              </a:rPr>
              <a:t>Toujours côté utilisateur : ignorer, approfondir, partager, archiver. BNDRS ne décide jamais à sa place.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9D8FF"/>
                </a:solidFill>
                <a:latin typeface="Inter"/>
              </a:rPr>
              <a:t>BNDRS</a:t>
            </a:r>
            <a:r>
              <a:rPr sz="1000" b="0" i="0">
                <a:solidFill>
                  <a:srgbClr val="59647F"/>
                </a:solidFill>
                <a:latin typeface="Inter"/>
              </a:rPr>
              <a:t>   ·   Soutenance de stage — DEV IA · Greta de Besançon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37215" y="6437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647F"/>
                </a:solidFill>
                <a:latin typeface="Inter"/>
              </a:rPr>
              <a:t>08</a:t>
            </a:r>
          </a:p>
        </p:txBody>
      </p:sp>
      <p:sp>
        <p:nvSpPr>
          <p:cNvPr id="39" name="Oval 38"/>
          <p:cNvSpPr/>
          <p:nvPr/>
        </p:nvSpPr>
        <p:spPr>
          <a:xfrm>
            <a:off x="11469319" y="6501384"/>
            <a:ext cx="91440" cy="9144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80">
                <a:solidFill>
                  <a:srgbClr val="29D8FF"/>
                </a:solidFill>
                <a:latin typeface="Inter"/>
              </a:rPr>
              <a:t>MISE EN ŒUVRE &amp; GESTION DE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FB"/>
                </a:solidFill>
                <a:latin typeface="Inter"/>
              </a:rPr>
              <a:t>Le parcours du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9D8FF"/>
                </a:solidFill>
                <a:latin typeface="Inter"/>
              </a:rPr>
              <a:t>Méthode  </a:t>
            </a:r>
            <a:r>
              <a:rPr sz="1250" b="0" i="0">
                <a:solidFill>
                  <a:srgbClr val="9AA6C6"/>
                </a:solidFill>
                <a:latin typeface="Inter"/>
              </a:rPr>
              <a:t>itérative, 100% distancielle (Discord), avec des sessions techniques régulières et de la veille continue.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19" y="2788920"/>
            <a:ext cx="10789920" cy="18288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36192" y="2697479"/>
            <a:ext cx="201168" cy="201168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39"/>
            <a:ext cx="21762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9D8FF"/>
                </a:solidFill>
                <a:latin typeface="Inter"/>
              </a:rPr>
              <a:t>Computer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99339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Démarrage avec Jimmy : détection, YOLO, mains/pieds — prise en main des outils.</a:t>
            </a:r>
          </a:p>
        </p:txBody>
      </p:sp>
      <p:sp>
        <p:nvSpPr>
          <p:cNvPr id="12" name="Oval 11"/>
          <p:cNvSpPr/>
          <p:nvPr/>
        </p:nvSpPr>
        <p:spPr>
          <a:xfrm>
            <a:off x="3781044" y="2697479"/>
            <a:ext cx="201168" cy="201168"/>
          </a:xfrm>
          <a:prstGeom prst="ellipse">
            <a:avLst/>
          </a:prstGeom>
          <a:solidFill>
            <a:srgbClr val="FF4CC5"/>
          </a:solidFill>
          <a:ln>
            <a:noFill/>
          </a:ln>
          <a:effectLst>
            <a:glow rad="76200">
              <a:srgbClr val="FF4CC5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3492" y="1920239"/>
            <a:ext cx="21762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4CC5"/>
                </a:solidFill>
                <a:latin typeface="Inter"/>
              </a:rPr>
              <a:t>Prompt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4932" y="3200400"/>
            <a:ext cx="199339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Cadrage des LLM, premiers chatbots avec Ollama en local.</a:t>
            </a:r>
          </a:p>
        </p:txBody>
      </p:sp>
      <p:sp>
        <p:nvSpPr>
          <p:cNvPr id="15" name="Oval 14"/>
          <p:cNvSpPr/>
          <p:nvPr/>
        </p:nvSpPr>
        <p:spPr>
          <a:xfrm>
            <a:off x="6025896" y="2697479"/>
            <a:ext cx="201168" cy="201168"/>
          </a:xfrm>
          <a:prstGeom prst="ellipse">
            <a:avLst/>
          </a:prstGeom>
          <a:solidFill>
            <a:srgbClr val="A862FF"/>
          </a:solidFill>
          <a:ln>
            <a:noFill/>
          </a:ln>
          <a:effectLst>
            <a:glow rad="76200">
              <a:srgbClr val="A862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8344" y="1920239"/>
            <a:ext cx="21762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A862FF"/>
                </a:solidFill>
                <a:latin typeface="Inter"/>
              </a:rPr>
              <a:t>API &amp;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3200400"/>
            <a:ext cx="199339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Backend FastAPI + frontend, comptes utilisateurs, appels API sécurisés.</a:t>
            </a:r>
          </a:p>
        </p:txBody>
      </p:sp>
      <p:sp>
        <p:nvSpPr>
          <p:cNvPr id="18" name="Oval 17"/>
          <p:cNvSpPr/>
          <p:nvPr/>
        </p:nvSpPr>
        <p:spPr>
          <a:xfrm>
            <a:off x="8270748" y="2697479"/>
            <a:ext cx="201168" cy="201168"/>
          </a:xfrm>
          <a:prstGeom prst="ellipse">
            <a:avLst/>
          </a:prstGeom>
          <a:solidFill>
            <a:srgbClr val="FF9621"/>
          </a:solidFill>
          <a:ln>
            <a:noFill/>
          </a:ln>
          <a:effectLst>
            <a:glow rad="76200">
              <a:srgbClr val="FF9621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3196" y="1920239"/>
            <a:ext cx="21762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621"/>
                </a:solidFill>
                <a:latin typeface="Inter"/>
              </a:rPr>
              <a:t>Agents N8N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4636" y="3200400"/>
            <a:ext cx="199339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Workflows, tools, notion de MCP — orchestration de l’IA.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2697479"/>
            <a:ext cx="201168" cy="201168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8048" y="1920239"/>
            <a:ext cx="21762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FEE5C"/>
                </a:solidFill>
                <a:latin typeface="Inter"/>
              </a:rPr>
              <a:t>Déploiement BNDRS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3200400"/>
            <a:ext cx="199339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Nom de domaine, Caddy, serveur Hetzner — mise en ligne de bndrs.fr.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9AA6C6"/>
                </a:solidFill>
                <a:latin typeface="Inter"/>
              </a:rPr>
              <a:t>Tout ce qui a été appris a immédiatement nourri BNDRS : </a:t>
            </a:r>
            <a:r>
              <a:rPr sz="1150" b="1" i="1">
                <a:solidFill>
                  <a:srgbClr val="EAF0FB"/>
                </a:solidFill>
                <a:latin typeface="Inter"/>
              </a:rPr>
              <a:t>le stage et le projet ont avancé ensemble.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9D8FF"/>
                </a:solidFill>
                <a:latin typeface="Inter"/>
              </a:rPr>
              <a:t>BNDRS</a:t>
            </a:r>
            <a:r>
              <a:rPr sz="1000" b="0" i="0">
                <a:solidFill>
                  <a:srgbClr val="59647F"/>
                </a:solidFill>
                <a:latin typeface="Inter"/>
              </a:rPr>
              <a:t>   ·   Soutenance de stage — DEV IA · Greta de Besançon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437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647F"/>
                </a:solidFill>
                <a:latin typeface="Inter"/>
              </a:rPr>
              <a:t>09</a:t>
            </a:r>
          </a:p>
        </p:txBody>
      </p:sp>
      <p:sp>
        <p:nvSpPr>
          <p:cNvPr id="27" name="Oval 26"/>
          <p:cNvSpPr/>
          <p:nvPr/>
        </p:nvSpPr>
        <p:spPr>
          <a:xfrm>
            <a:off x="11469319" y="6501384"/>
            <a:ext cx="91440" cy="9144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80">
                <a:solidFill>
                  <a:srgbClr val="29D8FF"/>
                </a:solidFill>
                <a:latin typeface="Inter"/>
              </a:rPr>
              <a:t>COMPÉTENCES &amp; RETOURS D’EXPÉRIENCE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FB"/>
                </a:solidFill>
                <a:latin typeface="Inter"/>
              </a:rPr>
              <a:t>Un cycle complet de développement IA</a:t>
            </a:r>
          </a:p>
        </p:txBody>
      </p:sp>
      <p:sp>
        <p:nvSpPr>
          <p:cNvPr id="7" name="Oval 6"/>
          <p:cNvSpPr/>
          <p:nvPr/>
        </p:nvSpPr>
        <p:spPr>
          <a:xfrm>
            <a:off x="576072" y="2103120"/>
            <a:ext cx="164592" cy="164592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Conception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Analyse du besoin, état de l’art, architecture modulaire.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35224"/>
            <a:ext cx="512064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11112" y="2103120"/>
            <a:ext cx="164592" cy="164592"/>
          </a:xfrm>
          <a:prstGeom prst="ellipse">
            <a:avLst/>
          </a:prstGeom>
          <a:solidFill>
            <a:srgbClr val="FF4CC5"/>
          </a:solidFill>
          <a:ln>
            <a:noFill/>
          </a:ln>
          <a:effectLst>
            <a:glow rad="76200">
              <a:srgbClr val="FF4CC5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0574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Back-end &amp;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4231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FastAPI, SQLite, endpoints REST, authentification / sessions.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7728" y="2935224"/>
            <a:ext cx="512064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6072" y="3127248"/>
            <a:ext cx="164592" cy="164592"/>
          </a:xfrm>
          <a:prstGeom prst="ellipse">
            <a:avLst/>
          </a:prstGeom>
          <a:solidFill>
            <a:srgbClr val="A862FF"/>
          </a:solidFill>
          <a:ln>
            <a:noFill/>
          </a:ln>
          <a:effectLst>
            <a:glow rad="76200">
              <a:srgbClr val="A862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0815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Front-end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4472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React / Vite, deux interfaces, appels API.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59352"/>
            <a:ext cx="512064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11112" y="3127248"/>
            <a:ext cx="164592" cy="164592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30815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IA &amp;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4472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Ollama local, prompt engineering, paramétrage des modèles.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3959352"/>
            <a:ext cx="512064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6072" y="4151376"/>
            <a:ext cx="164592" cy="164592"/>
          </a:xfrm>
          <a:prstGeom prst="ellipse">
            <a:avLst/>
          </a:prstGeom>
          <a:solidFill>
            <a:srgbClr val="FF9621"/>
          </a:solidFill>
          <a:ln>
            <a:noFill/>
          </a:ln>
          <a:effectLst>
            <a:glow rad="76200">
              <a:srgbClr val="FF9621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10565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Computer 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4714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YOLO, OpenCV, détection d’objets.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983480"/>
            <a:ext cx="512064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11112" y="4151376"/>
            <a:ext cx="164592" cy="164592"/>
          </a:xfrm>
          <a:prstGeom prst="ellipse">
            <a:avLst/>
          </a:prstGeom>
          <a:solidFill>
            <a:srgbClr val="25F2C2"/>
          </a:solidFill>
          <a:ln>
            <a:noFill/>
          </a:ln>
          <a:effectLst>
            <a:glow rad="76200">
              <a:srgbClr val="25F2C2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7728" y="410565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Agents / N8N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4714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Workflows, tools, orchestration multi-étapes.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67728" y="4983480"/>
            <a:ext cx="5120640" cy="12801"/>
          </a:xfrm>
          <a:prstGeom prst="rect">
            <a:avLst/>
          </a:prstGeom>
          <a:solidFill>
            <a:srgbClr val="2028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2" y="5175504"/>
            <a:ext cx="164592" cy="164592"/>
          </a:xfrm>
          <a:prstGeom prst="ellipse">
            <a:avLst/>
          </a:prstGeom>
          <a:solidFill>
            <a:srgbClr val="FFE45C"/>
          </a:solidFill>
          <a:ln>
            <a:noFill/>
          </a:ln>
          <a:effectLst>
            <a:glow rad="76200">
              <a:srgbClr val="FFE4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12978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Déploiement &amp; infra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49554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Hetzner, Caddy, HTTPS, nom de domaine.</a:t>
            </a:r>
          </a:p>
        </p:txBody>
      </p:sp>
      <p:sp>
        <p:nvSpPr>
          <p:cNvPr id="34" name="Oval 33"/>
          <p:cNvSpPr/>
          <p:nvPr/>
        </p:nvSpPr>
        <p:spPr>
          <a:xfrm>
            <a:off x="6611112" y="5175504"/>
            <a:ext cx="164592" cy="164592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512978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Autonomie &amp; veille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549554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Travail distanciel, recherche continue, débogage.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9D8FF"/>
                </a:solidFill>
                <a:latin typeface="Inter"/>
              </a:rPr>
              <a:t>BNDRS</a:t>
            </a:r>
            <a:r>
              <a:rPr sz="1000" b="0" i="0">
                <a:solidFill>
                  <a:srgbClr val="59647F"/>
                </a:solidFill>
                <a:latin typeface="Inter"/>
              </a:rPr>
              <a:t>   ·   Soutenance de stage — DEV IA · Greta de Besançon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37215" y="6437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647F"/>
                </a:solidFill>
                <a:latin typeface="Inter"/>
              </a:rPr>
              <a:t>10</a:t>
            </a:r>
          </a:p>
        </p:txBody>
      </p:sp>
      <p:sp>
        <p:nvSpPr>
          <p:cNvPr id="39" name="Oval 38"/>
          <p:cNvSpPr/>
          <p:nvPr/>
        </p:nvSpPr>
        <p:spPr>
          <a:xfrm>
            <a:off x="11469319" y="6501384"/>
            <a:ext cx="91440" cy="9144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80">
                <a:solidFill>
                  <a:srgbClr val="29D8FF"/>
                </a:solidFill>
                <a:latin typeface="Inter"/>
              </a:rPr>
              <a:t>BILAN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FB"/>
                </a:solidFill>
                <a:latin typeface="Inter"/>
              </a:rPr>
              <a:t>Difficultés rencontrées &amp; résultats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20240"/>
            <a:ext cx="41148" cy="3886200"/>
          </a:xfrm>
          <a:prstGeom prst="rect">
            <a:avLst/>
          </a:prstGeom>
          <a:solidFill>
            <a:srgbClr val="FF9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20240"/>
            <a:ext cx="41148" cy="3886200"/>
          </a:xfrm>
          <a:prstGeom prst="rect">
            <a:avLst/>
          </a:prstGeom>
          <a:solidFill>
            <a:srgbClr val="FF9621"/>
          </a:solidFill>
          <a:ln>
            <a:noFill/>
          </a:ln>
          <a:effectLst>
            <a:glow rad="63500">
              <a:srgbClr val="FF9621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066543"/>
            <a:ext cx="182880" cy="182880"/>
          </a:xfrm>
          <a:prstGeom prst="ellipse">
            <a:avLst/>
          </a:prstGeom>
          <a:solidFill>
            <a:srgbClr val="FF9621"/>
          </a:solidFill>
          <a:ln>
            <a:noFill/>
          </a:ln>
          <a:effectLst>
            <a:glow rad="76200">
              <a:srgbClr val="FF9621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95681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9621"/>
                </a:solidFill>
                <a:latin typeface="Inter"/>
              </a:rPr>
              <a:t>Difficultés</a:t>
            </a:r>
          </a:p>
        </p:txBody>
      </p:sp>
      <p:sp>
        <p:nvSpPr>
          <p:cNvPr id="11" name="Oval 10"/>
          <p:cNvSpPr/>
          <p:nvPr/>
        </p:nvSpPr>
        <p:spPr>
          <a:xfrm>
            <a:off x="877824" y="2724912"/>
            <a:ext cx="73152" cy="73152"/>
          </a:xfrm>
          <a:prstGeom prst="ellipse">
            <a:avLst/>
          </a:prstGeom>
          <a:solidFill>
            <a:srgbClr val="FF9621"/>
          </a:solidFill>
          <a:ln>
            <a:noFill/>
          </a:ln>
          <a:effectLst>
            <a:glow rad="76200">
              <a:srgbClr val="FF9621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67004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AF0FB"/>
                </a:solidFill>
                <a:latin typeface="Inter"/>
              </a:rPr>
              <a:t>Orchestration de l’IA — </a:t>
            </a:r>
            <a:r>
              <a:rPr sz="1200" b="0" i="0">
                <a:solidFill>
                  <a:srgbClr val="9AA6C6"/>
                </a:solidFill>
                <a:latin typeface="Inter"/>
              </a:rPr>
              <a:t>router les tâches, gérer tokens, contextes et latences.</a:t>
            </a:r>
          </a:p>
        </p:txBody>
      </p:sp>
      <p:sp>
        <p:nvSpPr>
          <p:cNvPr id="13" name="Oval 12"/>
          <p:cNvSpPr/>
          <p:nvPr/>
        </p:nvSpPr>
        <p:spPr>
          <a:xfrm>
            <a:off x="877824" y="3493008"/>
            <a:ext cx="73152" cy="73152"/>
          </a:xfrm>
          <a:prstGeom prst="ellipse">
            <a:avLst/>
          </a:prstGeom>
          <a:solidFill>
            <a:srgbClr val="FF9621"/>
          </a:solidFill>
          <a:ln>
            <a:noFill/>
          </a:ln>
          <a:effectLst>
            <a:glow rad="76200">
              <a:srgbClr val="FF9621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38144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AF0FB"/>
                </a:solidFill>
                <a:latin typeface="Inter"/>
              </a:rPr>
              <a:t>Déploiement réseau — </a:t>
            </a:r>
            <a:r>
              <a:rPr sz="1200" b="0" i="0">
                <a:solidFill>
                  <a:srgbClr val="9AA6C6"/>
                </a:solidFill>
                <a:latin typeface="Inter"/>
              </a:rPr>
              <a:t>ports, reverse proxy, HTTPS, nom de domaine.</a:t>
            </a:r>
          </a:p>
        </p:txBody>
      </p:sp>
      <p:sp>
        <p:nvSpPr>
          <p:cNvPr id="15" name="Oval 14"/>
          <p:cNvSpPr/>
          <p:nvPr/>
        </p:nvSpPr>
        <p:spPr>
          <a:xfrm>
            <a:off x="877824" y="4261103"/>
            <a:ext cx="73152" cy="73152"/>
          </a:xfrm>
          <a:prstGeom prst="ellipse">
            <a:avLst/>
          </a:prstGeom>
          <a:solidFill>
            <a:srgbClr val="FF9621"/>
          </a:solidFill>
          <a:ln>
            <a:noFill/>
          </a:ln>
          <a:effectLst>
            <a:glow rad="76200">
              <a:srgbClr val="FF9621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0624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AF0FB"/>
                </a:solidFill>
                <a:latin typeface="Inter"/>
              </a:rPr>
              <a:t>Coordination distancielle — </a:t>
            </a:r>
            <a:r>
              <a:rPr sz="1200" b="0" i="0">
                <a:solidFill>
                  <a:srgbClr val="9AA6C6"/>
                </a:solidFill>
                <a:latin typeface="Inter"/>
              </a:rPr>
              <a:t>synchroniser le travail à distance via Discord.</a:t>
            </a:r>
          </a:p>
        </p:txBody>
      </p:sp>
      <p:sp>
        <p:nvSpPr>
          <p:cNvPr id="17" name="Oval 16"/>
          <p:cNvSpPr/>
          <p:nvPr/>
        </p:nvSpPr>
        <p:spPr>
          <a:xfrm>
            <a:off x="877824" y="5029199"/>
            <a:ext cx="73152" cy="73152"/>
          </a:xfrm>
          <a:prstGeom prst="ellipse">
            <a:avLst/>
          </a:prstGeom>
          <a:solidFill>
            <a:srgbClr val="FF9621"/>
          </a:solidFill>
          <a:ln>
            <a:noFill/>
          </a:ln>
          <a:effectLst>
            <a:glow rad="76200">
              <a:srgbClr val="FF9621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974336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AF0FB"/>
                </a:solidFill>
                <a:latin typeface="Inter"/>
              </a:rPr>
              <a:t>Cadrage du concept — </a:t>
            </a:r>
            <a:r>
              <a:rPr sz="1200" b="0" i="0">
                <a:solidFill>
                  <a:srgbClr val="9AA6C6"/>
                </a:solidFill>
                <a:latin typeface="Inter"/>
              </a:rPr>
              <a:t>garder un positionnement honnête et défendable.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920240"/>
            <a:ext cx="41148" cy="3886200"/>
          </a:xfrm>
          <a:prstGeom prst="rect">
            <a:avLst/>
          </a:prstGeom>
          <a:solidFill>
            <a:srgbClr val="3FE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920240"/>
            <a:ext cx="41148" cy="3886200"/>
          </a:xfrm>
          <a:prstGeom prst="rect">
            <a:avLst/>
          </a:prstGeom>
          <a:solidFill>
            <a:srgbClr val="3FEE5C"/>
          </a:solidFill>
          <a:ln>
            <a:noFill/>
          </a:ln>
          <a:effectLst>
            <a:glow rad="63500">
              <a:srgbClr val="3FEE5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20840" y="2066543"/>
            <a:ext cx="182880" cy="182880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8312" y="195681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FEE5C"/>
                </a:solidFill>
                <a:latin typeface="Inter"/>
              </a:rPr>
              <a:t>Résultats obtenus</a:t>
            </a:r>
          </a:p>
        </p:txBody>
      </p:sp>
      <p:sp>
        <p:nvSpPr>
          <p:cNvPr id="23" name="Oval 22"/>
          <p:cNvSpPr/>
          <p:nvPr/>
        </p:nvSpPr>
        <p:spPr>
          <a:xfrm>
            <a:off x="6665976" y="2724912"/>
            <a:ext cx="73152" cy="73152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267004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AF0FB"/>
                </a:solidFill>
                <a:latin typeface="Inter"/>
              </a:rPr>
              <a:t>bndrs.fr en ligne — </a:t>
            </a:r>
            <a:r>
              <a:rPr sz="1200" b="0" i="0">
                <a:solidFill>
                  <a:srgbClr val="9AA6C6"/>
                </a:solidFill>
                <a:latin typeface="Inter"/>
              </a:rPr>
              <a:t>projet réellement déployé, pas une maquette.</a:t>
            </a:r>
          </a:p>
        </p:txBody>
      </p:sp>
      <p:sp>
        <p:nvSpPr>
          <p:cNvPr id="25" name="Oval 24"/>
          <p:cNvSpPr/>
          <p:nvPr/>
        </p:nvSpPr>
        <p:spPr>
          <a:xfrm>
            <a:off x="6665976" y="3493008"/>
            <a:ext cx="73152" cy="73152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3438144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AF0FB"/>
                </a:solidFill>
                <a:latin typeface="Inter"/>
              </a:rPr>
              <a:t>Backend opérationnel — </a:t>
            </a:r>
            <a:r>
              <a:rPr sz="1200" b="0" i="0">
                <a:solidFill>
                  <a:srgbClr val="9AA6C6"/>
                </a:solidFill>
                <a:latin typeface="Inter"/>
              </a:rPr>
              <a:t>API FastAPI + SQLite, sessions, comptes.</a:t>
            </a:r>
          </a:p>
        </p:txBody>
      </p:sp>
      <p:sp>
        <p:nvSpPr>
          <p:cNvPr id="27" name="Oval 26"/>
          <p:cNvSpPr/>
          <p:nvPr/>
        </p:nvSpPr>
        <p:spPr>
          <a:xfrm>
            <a:off x="6665976" y="4261103"/>
            <a:ext cx="73152" cy="73152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420624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AF0FB"/>
                </a:solidFill>
                <a:latin typeface="Inter"/>
              </a:rPr>
              <a:t>Deux frontends — </a:t>
            </a:r>
            <a:r>
              <a:rPr sz="1200" b="0" i="0">
                <a:solidFill>
                  <a:srgbClr val="9AA6C6"/>
                </a:solidFill>
                <a:latin typeface="Inter"/>
              </a:rPr>
              <a:t>interface utilisateur + cockpit d’administration.</a:t>
            </a:r>
          </a:p>
        </p:txBody>
      </p:sp>
      <p:sp>
        <p:nvSpPr>
          <p:cNvPr id="29" name="Oval 28"/>
          <p:cNvSpPr/>
          <p:nvPr/>
        </p:nvSpPr>
        <p:spPr>
          <a:xfrm>
            <a:off x="6665976" y="5029199"/>
            <a:ext cx="73152" cy="73152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762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4974336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AF0FB"/>
                </a:solidFill>
                <a:latin typeface="Inter"/>
              </a:rPr>
              <a:t>Chaîne complète maîtrisée — </a:t>
            </a:r>
            <a:r>
              <a:rPr sz="1200" b="0" i="0">
                <a:solidFill>
                  <a:srgbClr val="9AA6C6"/>
                </a:solidFill>
                <a:latin typeface="Inter"/>
              </a:rPr>
              <a:t>de la conception au déploiement IA.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9D8FF"/>
                </a:solidFill>
                <a:latin typeface="Inter"/>
              </a:rPr>
              <a:t>BNDRS</a:t>
            </a:r>
            <a:r>
              <a:rPr sz="1000" b="0" i="0">
                <a:solidFill>
                  <a:srgbClr val="59647F"/>
                </a:solidFill>
                <a:latin typeface="Inter"/>
              </a:rPr>
              <a:t>   ·   Soutenance de stage — DEV IA · Greta de Besançon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7215" y="6437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647F"/>
                </a:solidFill>
                <a:latin typeface="Inter"/>
              </a:rPr>
              <a:t>11</a:t>
            </a:r>
          </a:p>
        </p:txBody>
      </p:sp>
      <p:sp>
        <p:nvSpPr>
          <p:cNvPr id="33" name="Oval 32"/>
          <p:cNvSpPr/>
          <p:nvPr/>
        </p:nvSpPr>
        <p:spPr>
          <a:xfrm>
            <a:off x="11469319" y="6501384"/>
            <a:ext cx="91440" cy="9144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80">
                <a:solidFill>
                  <a:srgbClr val="29D8FF"/>
                </a:solidFill>
                <a:latin typeface="Inter"/>
              </a:rPr>
              <a:t>PERSPECTIVES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FB"/>
                </a:solidFill>
                <a:latin typeface="Inter"/>
              </a:rPr>
              <a:t>Suites envisagées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868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29D8FF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892807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Analyse vidéo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258568"/>
            <a:ext cx="4297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étendre le pipeline aux flux image/vidéo en temps réel.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874519"/>
            <a:ext cx="868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4CC5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1892807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Nouveaux modèles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2258568"/>
            <a:ext cx="4297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intégrer les modèles IA découverts en veille.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88920"/>
            <a:ext cx="868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A862FF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8072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Sphère AION 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172968"/>
            <a:ext cx="4297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finaliser la représentation cognitive vivante.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788920"/>
            <a:ext cx="868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3FEE5C"/>
                </a:solidFill>
                <a:latin typeface="Inter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8072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0FB"/>
                </a:solidFill>
                <a:latin typeface="Inter"/>
              </a:rPr>
              <a:t>Passage en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3172968"/>
            <a:ext cx="4297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6C6"/>
                </a:solidFill>
                <a:latin typeface="Inter"/>
              </a:rPr>
              <a:t>d’un projet alpha vers un usage réel.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114800"/>
            <a:ext cx="11064240" cy="12801"/>
          </a:xfrm>
          <a:prstGeom prst="rect">
            <a:avLst/>
          </a:prstGeom>
          <a:solidFill>
            <a:srgbClr val="29D8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34340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9D8FF"/>
                </a:solidFill>
                <a:latin typeface="Inter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77316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C6"/>
                </a:solidFill>
                <a:latin typeface="Inter"/>
              </a:rPr>
              <a:t>Ce stage chez Koh AI m’a permis de couvrir </a:t>
            </a:r>
            <a:r>
              <a:rPr sz="1400" b="1" i="0">
                <a:solidFill>
                  <a:srgbClr val="EAF0FB"/>
                </a:solidFill>
                <a:latin typeface="Inter"/>
              </a:rPr>
              <a:t>l’ensemble du cycle de développement IA</a:t>
            </a:r>
            <a:r>
              <a:rPr sz="1400" b="0" i="0">
                <a:solidFill>
                  <a:srgbClr val="9AA6C6"/>
                </a:solidFill>
                <a:latin typeface="Inter"/>
              </a:rPr>
              <a:t> — de la conception à un produit réellement déployé. BNDRS démontre qu’une architecture IA cognitive, sobre et évolutive peut être construite avec rigueur, en autonomie et de bout en bout.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9D8FF"/>
                </a:solidFill>
                <a:latin typeface="Inter"/>
              </a:rPr>
              <a:t>BNDRS</a:t>
            </a:r>
            <a:r>
              <a:rPr sz="1000" b="0" i="0">
                <a:solidFill>
                  <a:srgbClr val="59647F"/>
                </a:solidFill>
                <a:latin typeface="Inter"/>
              </a:rPr>
              <a:t>   ·   Soutenance de stage — DEV IA · Greta de Besançon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37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647F"/>
                </a:solidFill>
                <a:latin typeface="Inter"/>
              </a:rPr>
              <a:t>12</a:t>
            </a:r>
          </a:p>
        </p:txBody>
      </p:sp>
      <p:sp>
        <p:nvSpPr>
          <p:cNvPr id="24" name="Oval 23"/>
          <p:cNvSpPr/>
          <p:nvPr/>
        </p:nvSpPr>
        <p:spPr>
          <a:xfrm>
            <a:off x="11469319" y="6501384"/>
            <a:ext cx="91440" cy="9144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80">
                <a:solidFill>
                  <a:srgbClr val="29D8FF"/>
                </a:solidFill>
                <a:latin typeface="Inter"/>
              </a:rPr>
              <a:t>GLOSSAIRE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FB"/>
                </a:solidFill>
                <a:latin typeface="Inter"/>
              </a:rPr>
              <a:t>Glossaire 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9D8FF"/>
                </a:solidFill>
                <a:latin typeface="Consolas"/>
              </a:rP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04288"/>
            <a:ext cx="3429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6C6"/>
                </a:solidFill>
                <a:latin typeface="Inter"/>
              </a:rPr>
              <a:t>Large Language Model — modèle de langage entraîné sur de vastes corpus.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9664" y="1965960"/>
            <a:ext cx="10972" cy="960120"/>
          </a:xfrm>
          <a:prstGeom prst="rect">
            <a:avLst/>
          </a:prstGeom>
          <a:solidFill>
            <a:srgbClr val="20283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9202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4CC5"/>
                </a:solidFill>
                <a:latin typeface="Consolas"/>
              </a:rPr>
              <a:t>NLP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04288"/>
            <a:ext cx="3429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6C6"/>
                </a:solidFill>
                <a:latin typeface="Inter"/>
              </a:rPr>
              <a:t>Traitement automatique du langage naturel.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1856" y="1965960"/>
            <a:ext cx="10972" cy="960120"/>
          </a:xfrm>
          <a:prstGeom prst="rect">
            <a:avLst/>
          </a:prstGeom>
          <a:solidFill>
            <a:srgbClr val="20283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1" y="19202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A862FF"/>
                </a:solidFill>
                <a:latin typeface="Consolas"/>
              </a:rPr>
              <a:t>API /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1" y="2304288"/>
            <a:ext cx="3429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6C6"/>
                </a:solidFill>
                <a:latin typeface="Inter"/>
              </a:rPr>
              <a:t>Interface standardisée d’échange entre logiciels (endpoints HTTP).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1868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FEE5C"/>
                </a:solidFill>
                <a:latin typeface="Consola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602736"/>
            <a:ext cx="3429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6C6"/>
                </a:solidFill>
                <a:latin typeface="Inter"/>
              </a:rPr>
              <a:t>Framework Python asynchrone pour APIs performantes.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9664" y="3264408"/>
            <a:ext cx="10972" cy="960120"/>
          </a:xfrm>
          <a:prstGeom prst="rect">
            <a:avLst/>
          </a:prstGeom>
          <a:solidFill>
            <a:srgbClr val="20283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21868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621"/>
                </a:solidFill>
                <a:latin typeface="Consolas"/>
              </a:rPr>
              <a:t>Ollama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602736"/>
            <a:ext cx="3429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6C6"/>
                </a:solidFill>
                <a:latin typeface="Inter"/>
              </a:rPr>
              <a:t>Exécution locale de LLM, sans dépendance cloud.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6" y="3264408"/>
            <a:ext cx="10972" cy="960120"/>
          </a:xfrm>
          <a:prstGeom prst="rect">
            <a:avLst/>
          </a:prstGeom>
          <a:solidFill>
            <a:srgbClr val="20283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1" y="321868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5F2C2"/>
                </a:solidFill>
                <a:latin typeface="Consolas"/>
              </a:rPr>
              <a:t>Computer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1" y="3602736"/>
            <a:ext cx="3429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6C6"/>
                </a:solidFill>
                <a:latin typeface="Inter"/>
              </a:rPr>
              <a:t>Analyse d’images — YOLO (détection), OpenCV (traitement).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517136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E45C"/>
                </a:solidFill>
                <a:latin typeface="Consolas"/>
              </a:rPr>
              <a:t>Reverse proxy (Caddy)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901183"/>
            <a:ext cx="3429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6C6"/>
                </a:solidFill>
                <a:latin typeface="Inter"/>
              </a:rPr>
              <a:t>Point d’entrée HTTPS qui route vers les services internes.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9664" y="4562855"/>
            <a:ext cx="10972" cy="960120"/>
          </a:xfrm>
          <a:prstGeom prst="rect">
            <a:avLst/>
          </a:prstGeom>
          <a:solidFill>
            <a:srgbClr val="20283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517136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9D8FF"/>
                </a:solidFill>
                <a:latin typeface="Consolas"/>
              </a:rPr>
              <a:t>Agent / N8N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901183"/>
            <a:ext cx="3429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6C6"/>
                </a:solidFill>
                <a:latin typeface="Inter"/>
              </a:rPr>
              <a:t>Orchestration de tâches IA en workflows automatisés.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1856" y="4562855"/>
            <a:ext cx="10972" cy="960120"/>
          </a:xfrm>
          <a:prstGeom prst="rect">
            <a:avLst/>
          </a:prstGeom>
          <a:solidFill>
            <a:srgbClr val="20283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1" y="4517136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4CC5"/>
                </a:solidFill>
                <a:latin typeface="Consolas"/>
              </a:rPr>
              <a:t>AION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1" y="4901183"/>
            <a:ext cx="3429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6C6"/>
                </a:solidFill>
                <a:latin typeface="Inter"/>
              </a:rPr>
              <a:t>Sphère cognitive : identité visuelle et carte des tensions de BNDRS.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9D8FF"/>
                </a:solidFill>
                <a:latin typeface="Inter"/>
              </a:rPr>
              <a:t>BNDRS</a:t>
            </a:r>
            <a:r>
              <a:rPr sz="1000" b="0" i="0">
                <a:solidFill>
                  <a:srgbClr val="59647F"/>
                </a:solidFill>
                <a:latin typeface="Inter"/>
              </a:rPr>
              <a:t>   ·   Soutenance de stage — DEV IA · Greta de Besançon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7215" y="6437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647F"/>
                </a:solidFill>
                <a:latin typeface="Inter"/>
              </a:rPr>
              <a:t>13</a:t>
            </a:r>
          </a:p>
        </p:txBody>
      </p:sp>
      <p:sp>
        <p:nvSpPr>
          <p:cNvPr id="33" name="Oval 32"/>
          <p:cNvSpPr/>
          <p:nvPr/>
        </p:nvSpPr>
        <p:spPr>
          <a:xfrm>
            <a:off x="11469319" y="6501384"/>
            <a:ext cx="91440" cy="9144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762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67992" y="-2240279"/>
            <a:ext cx="15727680" cy="10241280"/>
          </a:xfrm>
          <a:prstGeom prst="ellipse">
            <a:avLst/>
          </a:prstGeom>
          <a:solidFill>
            <a:srgbClr val="0E162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967" y="-411480"/>
            <a:ext cx="9509760" cy="6583680"/>
          </a:xfrm>
          <a:prstGeom prst="ellipse">
            <a:avLst/>
          </a:prstGeom>
          <a:solidFill>
            <a:srgbClr val="121C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09847" y="457200"/>
            <a:ext cx="4572000" cy="4572000"/>
          </a:xfrm>
          <a:prstGeom prst="ellipse">
            <a:avLst/>
          </a:prstGeom>
          <a:noFill/>
          <a:ln w="9525">
            <a:solidFill>
              <a:srgbClr val="29D8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50181" y="1297533"/>
            <a:ext cx="2891332" cy="2891332"/>
          </a:xfrm>
          <a:prstGeom prst="ellipse">
            <a:avLst/>
          </a:prstGeom>
          <a:solidFill>
            <a:srgbClr val="0A0F1E"/>
          </a:solidFill>
          <a:ln>
            <a:noFill/>
          </a:ln>
          <a:effectLst>
            <a:glow rad="889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78527" y="1325880"/>
            <a:ext cx="2834640" cy="2834640"/>
          </a:xfrm>
          <a:prstGeom prst="ellipse">
            <a:avLst/>
          </a:prstGeom>
          <a:solidFill>
            <a:srgbClr val="070B16"/>
          </a:solidFill>
          <a:ln w="12700">
            <a:solidFill>
              <a:srgbClr val="29D8FF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63566" y="1325880"/>
            <a:ext cx="1700784" cy="1700784"/>
          </a:xfrm>
          <a:prstGeom prst="ellipse">
            <a:avLst/>
          </a:prstGeom>
          <a:solidFill>
            <a:srgbClr val="172446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35220" y="2289657"/>
            <a:ext cx="2721254" cy="907084"/>
          </a:xfrm>
          <a:prstGeom prst="ellipse">
            <a:avLst/>
          </a:prstGeom>
          <a:noFill/>
          <a:ln w="9525">
            <a:solidFill>
              <a:srgbClr val="29D8F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13958" y="1382572"/>
            <a:ext cx="963777" cy="2721254"/>
          </a:xfrm>
          <a:prstGeom prst="ellipse">
            <a:avLst/>
          </a:prstGeom>
          <a:noFill/>
          <a:ln w="9525">
            <a:solidFill>
              <a:srgbClr val="29D8F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1440000">
            <a:off x="4876952" y="2034540"/>
            <a:ext cx="2437790" cy="1417320"/>
          </a:xfrm>
          <a:prstGeom prst="ellipse">
            <a:avLst/>
          </a:prstGeom>
          <a:noFill/>
          <a:ln w="9525">
            <a:solidFill>
              <a:srgbClr val="29D8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94037" y="1717768"/>
            <a:ext cx="803620" cy="803620"/>
          </a:xfrm>
          <a:prstGeom prst="ellipse">
            <a:avLst/>
          </a:prstGeom>
          <a:solidFill>
            <a:srgbClr val="29D8FF"/>
          </a:solidFill>
          <a:ln>
            <a:noFill/>
          </a:ln>
          <a:effectLst>
            <a:glow rad="88900">
              <a:srgbClr val="29D8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13171" y="1736902"/>
            <a:ext cx="765352" cy="765352"/>
          </a:xfrm>
          <a:prstGeom prst="ellipse">
            <a:avLst/>
          </a:prstGeom>
          <a:solidFill>
            <a:srgbClr val="29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66241" y="1912933"/>
            <a:ext cx="229605" cy="153070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27109" y="2823278"/>
            <a:ext cx="803620" cy="803620"/>
          </a:xfrm>
          <a:prstGeom prst="ellipse">
            <a:avLst/>
          </a:prstGeom>
          <a:solidFill>
            <a:srgbClr val="FF4CC5"/>
          </a:solidFill>
          <a:ln>
            <a:noFill/>
          </a:ln>
          <a:effectLst>
            <a:glow rad="88900">
              <a:srgbClr val="FF4CC5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46243" y="2842412"/>
            <a:ext cx="765352" cy="765352"/>
          </a:xfrm>
          <a:prstGeom prst="ellipse">
            <a:avLst/>
          </a:prstGeom>
          <a:solidFill>
            <a:srgbClr val="FF4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9313" y="3018443"/>
            <a:ext cx="229605" cy="153070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60965" y="2823278"/>
            <a:ext cx="803620" cy="803620"/>
          </a:xfrm>
          <a:prstGeom prst="ellipse">
            <a:avLst/>
          </a:prstGeom>
          <a:solidFill>
            <a:srgbClr val="3FEE5C"/>
          </a:solidFill>
          <a:ln>
            <a:noFill/>
          </a:ln>
          <a:effectLst>
            <a:glow rad="88900">
              <a:srgbClr val="3FEE5C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80099" y="2842412"/>
            <a:ext cx="765352" cy="765352"/>
          </a:xfrm>
          <a:prstGeom prst="ellipse">
            <a:avLst/>
          </a:prstGeom>
          <a:solidFill>
            <a:srgbClr val="3FE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33169" y="3018443"/>
            <a:ext cx="229605" cy="153070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0624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EAF0FB"/>
                </a:solidFill>
                <a:latin typeface="Inter"/>
              </a:rPr>
              <a:t>Merci de votre attention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6"/>
                </a:solidFill>
                <a:latin typeface="Inter"/>
              </a:rPr>
              <a:t>Des questions ?    </a:t>
            </a:r>
            <a:r>
              <a:rPr sz="1500" b="1" i="0">
                <a:solidFill>
                  <a:srgbClr val="29D8FF"/>
                </a:solidFill>
                <a:latin typeface="Consolas"/>
              </a:rPr>
              <a:t>bndrs.fr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5715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647F"/>
                </a:solidFill>
                <a:latin typeface="Inter"/>
              </a:rPr>
              <a:t>Stéphane Holtzmann — DEV IA · Greta de Besançon   ·   Stage chez Koh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
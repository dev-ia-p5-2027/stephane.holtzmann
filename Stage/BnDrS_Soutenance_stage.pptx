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0608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767992" y="-2240279"/>
            <a:ext cx="15727680" cy="10241280"/>
          </a:xfrm>
          <a:prstGeom prst="ellipse">
            <a:avLst/>
          </a:prstGeom>
          <a:solidFill>
            <a:srgbClr val="0E1626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340967" y="-411480"/>
            <a:ext cx="9509760" cy="6583680"/>
          </a:xfrm>
          <a:prstGeom prst="ellipse">
            <a:avLst/>
          </a:prstGeom>
          <a:solidFill>
            <a:srgbClr val="121C30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949440" y="1005839"/>
            <a:ext cx="4480560" cy="4480560"/>
          </a:xfrm>
          <a:prstGeom prst="ellipse">
            <a:avLst/>
          </a:prstGeom>
          <a:noFill/>
          <a:ln w="9525">
            <a:solidFill>
              <a:srgbClr val="29D8FF">
                <a:alpha val="1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510881" y="1567281"/>
            <a:ext cx="3357676" cy="3357676"/>
          </a:xfrm>
          <a:prstGeom prst="ellipse">
            <a:avLst/>
          </a:prstGeom>
          <a:solidFill>
            <a:srgbClr val="0A0F1E"/>
          </a:solidFill>
          <a:ln>
            <a:noFill/>
          </a:ln>
          <a:effectLst>
            <a:glow rad="88900">
              <a:srgbClr val="29D8FF">
                <a:alpha val="5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543800" y="1600199"/>
            <a:ext cx="3291840" cy="3291840"/>
          </a:xfrm>
          <a:prstGeom prst="ellipse">
            <a:avLst/>
          </a:prstGeom>
          <a:solidFill>
            <a:srgbClr val="070B16"/>
          </a:solidFill>
          <a:ln w="12700">
            <a:solidFill>
              <a:srgbClr val="29D8FF">
                <a:alpha val="2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642555" y="1600199"/>
            <a:ext cx="1975104" cy="1975104"/>
          </a:xfrm>
          <a:prstGeom prst="ellipse">
            <a:avLst/>
          </a:prstGeom>
          <a:solidFill>
            <a:srgbClr val="172446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609636" y="2719425"/>
            <a:ext cx="3160166" cy="1053388"/>
          </a:xfrm>
          <a:prstGeom prst="ellipse">
            <a:avLst/>
          </a:prstGeom>
          <a:noFill/>
          <a:ln w="9525">
            <a:solidFill>
              <a:srgbClr val="29D8FF">
                <a:alpha val="1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630107" y="1666036"/>
            <a:ext cx="1119225" cy="3160166"/>
          </a:xfrm>
          <a:prstGeom prst="ellipse">
            <a:avLst/>
          </a:prstGeom>
          <a:noFill/>
          <a:ln w="9525">
            <a:solidFill>
              <a:srgbClr val="29D8FF">
                <a:alpha val="1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 rot="1440000">
            <a:off x="7774228" y="2423160"/>
            <a:ext cx="2830982" cy="1645920"/>
          </a:xfrm>
          <a:prstGeom prst="ellipse">
            <a:avLst/>
          </a:prstGeom>
          <a:noFill/>
          <a:ln w="9525">
            <a:solidFill>
              <a:srgbClr val="29D8FF">
                <a:alpha val="9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736433" y="2101547"/>
            <a:ext cx="906572" cy="906572"/>
          </a:xfrm>
          <a:prstGeom prst="ellipse">
            <a:avLst/>
          </a:prstGeom>
          <a:solidFill>
            <a:srgbClr val="8B94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745321" y="2077516"/>
            <a:ext cx="888796" cy="888796"/>
          </a:xfrm>
          <a:prstGeom prst="ellipse">
            <a:avLst/>
          </a:prstGeom>
          <a:solidFill>
            <a:srgbClr val="EAE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923080" y="2281940"/>
            <a:ext cx="266639" cy="177759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078065" y="3385364"/>
            <a:ext cx="906572" cy="906572"/>
          </a:xfrm>
          <a:prstGeom prst="ellipse">
            <a:avLst/>
          </a:prstGeom>
          <a:solidFill>
            <a:srgbClr val="8B94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86953" y="3361334"/>
            <a:ext cx="888796" cy="888796"/>
          </a:xfrm>
          <a:prstGeom prst="ellipse">
            <a:avLst/>
          </a:prstGeom>
          <a:solidFill>
            <a:srgbClr val="EAE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264712" y="3565757"/>
            <a:ext cx="266639" cy="177759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394801" y="3385364"/>
            <a:ext cx="906572" cy="906572"/>
          </a:xfrm>
          <a:prstGeom prst="ellipse">
            <a:avLst/>
          </a:prstGeom>
          <a:solidFill>
            <a:srgbClr val="8B94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403689" y="3361334"/>
            <a:ext cx="888796" cy="888796"/>
          </a:xfrm>
          <a:prstGeom prst="ellipse">
            <a:avLst/>
          </a:prstGeom>
          <a:solidFill>
            <a:srgbClr val="EAEE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581448" y="3565757"/>
            <a:ext cx="266639" cy="177759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105156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 spc="220">
                <a:solidFill>
                  <a:srgbClr val="29D8FF"/>
                </a:solidFill>
                <a:latin typeface="Inter"/>
              </a:rPr>
              <a:t>SOUTENANCE DE STAGE  ·  DÉVELOPPEUR 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1481328"/>
            <a:ext cx="78638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200" b="1" i="0">
                <a:solidFill>
                  <a:srgbClr val="EAF0FB"/>
                </a:solidFill>
                <a:latin typeface="Inter"/>
              </a:rPr>
              <a:t>BnDrS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2926080"/>
            <a:ext cx="6949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EAF0FB"/>
                </a:solidFill>
                <a:latin typeface="Inter"/>
              </a:rPr>
              <a:t>Moteur d’exploration </a:t>
            </a:r>
            <a:r>
              <a:rPr sz="2100" b="1" i="0">
                <a:solidFill>
                  <a:srgbClr val="29D8FF"/>
                </a:solidFill>
                <a:latin typeface="Inter"/>
              </a:rPr>
              <a:t>cognitive &amp; narrative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3456432"/>
            <a:ext cx="6126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1">
                <a:solidFill>
                  <a:srgbClr val="9AA6C6"/>
                </a:solidFill>
                <a:latin typeface="Inter"/>
              </a:rPr>
              <a:t>Explorer un contenu sous plusieurs angles et en lire les tensions — sans jamais trancher le vrai du faux.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68680" y="4553712"/>
            <a:ext cx="36576" cy="1371600"/>
          </a:xfrm>
          <a:prstGeom prst="rect">
            <a:avLst/>
          </a:prstGeom>
          <a:solidFill>
            <a:srgbClr val="29D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78992" y="4553712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 spc="120">
                <a:solidFill>
                  <a:srgbClr val="59647F"/>
                </a:solidFill>
                <a:latin typeface="Inter"/>
              </a:rPr>
              <a:t>PRÉSENTÉ PAR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8992" y="4782312"/>
            <a:ext cx="34747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EAF0FB"/>
                </a:solidFill>
                <a:latin typeface="Inter"/>
              </a:rPr>
              <a:t>Stéphane Holtzmann — promo 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8992" y="5248656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 spc="120">
                <a:solidFill>
                  <a:srgbClr val="59647F"/>
                </a:solidFill>
                <a:latin typeface="Inter"/>
              </a:rPr>
              <a:t>STRUCTURE D’ACCUEIL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8992" y="5477256"/>
            <a:ext cx="34747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EAF0FB"/>
                </a:solidFill>
                <a:latin typeface="Inter"/>
              </a:rPr>
              <a:t>Association CoAI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26280" y="4553712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 spc="120">
                <a:solidFill>
                  <a:srgbClr val="59647F"/>
                </a:solidFill>
                <a:latin typeface="Inter"/>
              </a:rPr>
              <a:t>RÉFÉRENT DE STAGE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26280" y="4782312"/>
            <a:ext cx="34747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EAF0FB"/>
                </a:solidFill>
                <a:latin typeface="Inter"/>
              </a:rPr>
              <a:t>Ilias Baadji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26280" y="5248656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 spc="120">
                <a:solidFill>
                  <a:srgbClr val="59647F"/>
                </a:solidFill>
                <a:latin typeface="Inter"/>
              </a:rPr>
              <a:t>RESPONSABLE DE FORMATION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26280" y="5477256"/>
            <a:ext cx="34747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EAF0FB"/>
                </a:solidFill>
                <a:latin typeface="Inter"/>
              </a:rPr>
              <a:t>Bassam Kurdy</a:t>
            </a:r>
          </a:p>
        </p:txBody>
      </p:sp>
      <p:sp>
        <p:nvSpPr>
          <p:cNvPr id="34" name="Oval 33"/>
          <p:cNvSpPr/>
          <p:nvPr/>
        </p:nvSpPr>
        <p:spPr>
          <a:xfrm>
            <a:off x="923544" y="6117336"/>
            <a:ext cx="91440" cy="91440"/>
          </a:xfrm>
          <a:prstGeom prst="ellipse">
            <a:avLst/>
          </a:prstGeom>
          <a:solidFill>
            <a:srgbClr val="3FEE5C"/>
          </a:solidFill>
          <a:ln>
            <a:noFill/>
          </a:ln>
          <a:effectLst>
            <a:glow rad="76200">
              <a:srgbClr val="3FEE5C">
                <a:alpha val="5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15568" y="6053328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9AA6C6"/>
                </a:solidFill>
                <a:latin typeface="Inter"/>
              </a:rPr>
              <a:t>en ligne — </a:t>
            </a:r>
            <a:r>
              <a:rPr sz="1200" b="1" i="0">
                <a:solidFill>
                  <a:srgbClr val="3FEE5C"/>
                </a:solidFill>
                <a:latin typeface="Inter"/>
              </a:rPr>
              <a:t>bndrs.fr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0608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767992" y="-2240279"/>
            <a:ext cx="15727680" cy="10241280"/>
          </a:xfrm>
          <a:prstGeom prst="ellipse">
            <a:avLst/>
          </a:prstGeom>
          <a:solidFill>
            <a:srgbClr val="0E1626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340967" y="-411480"/>
            <a:ext cx="9509760" cy="6583680"/>
          </a:xfrm>
          <a:prstGeom prst="ellipse">
            <a:avLst/>
          </a:prstGeom>
          <a:solidFill>
            <a:srgbClr val="121C30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475488"/>
            <a:ext cx="91440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 spc="180">
                <a:solidFill>
                  <a:srgbClr val="29D8FF"/>
                </a:solidFill>
                <a:latin typeface="Inter"/>
              </a:rPr>
              <a:t>SOMMAIRE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68096"/>
            <a:ext cx="109728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EAF0FB"/>
                </a:solidFill>
                <a:latin typeface="Inter"/>
              </a:rPr>
              <a:t>Déroulé de la présentation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965960"/>
            <a:ext cx="960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29D8FF"/>
                </a:solidFill>
                <a:latin typeface="Inter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18488" y="2002536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EAF0FB"/>
                </a:solidFill>
                <a:latin typeface="Inter"/>
              </a:rPr>
              <a:t>Structure d’accueil &amp; cadre du stage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18488" y="2386584"/>
            <a:ext cx="4434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AA6C6"/>
                </a:solidFill>
                <a:latin typeface="Inter"/>
              </a:rPr>
              <a:t>CoAI · stage 1ʳᵉ année en distanciel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752344"/>
            <a:ext cx="6035040" cy="12801"/>
          </a:xfrm>
          <a:prstGeom prst="rect">
            <a:avLst/>
          </a:prstGeom>
          <a:solidFill>
            <a:srgbClr val="20283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01968" y="1965960"/>
            <a:ext cx="960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FF4CC5"/>
                </a:solidFill>
                <a:latin typeface="Inter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53527" y="2002536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EAF0FB"/>
                </a:solidFill>
                <a:latin typeface="Inter"/>
              </a:rPr>
              <a:t>Le besoin &amp; le positionnement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53527" y="2386584"/>
            <a:ext cx="4434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AA6C6"/>
                </a:solidFill>
                <a:latin typeface="Inter"/>
              </a:rPr>
              <a:t>Ce que BNDRS est — et n’est pas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2898648"/>
            <a:ext cx="960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A862FF"/>
                </a:solidFill>
                <a:latin typeface="Inter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18488" y="2935224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EAF0FB"/>
                </a:solidFill>
                <a:latin typeface="Inter"/>
              </a:rPr>
              <a:t>État de l’art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18488" y="3319272"/>
            <a:ext cx="4434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AA6C6"/>
                </a:solidFill>
                <a:latin typeface="Inter"/>
              </a:rPr>
              <a:t>Panorama des approches IA explorées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3685032"/>
            <a:ext cx="6035040" cy="12801"/>
          </a:xfrm>
          <a:prstGeom prst="rect">
            <a:avLst/>
          </a:prstGeom>
          <a:solidFill>
            <a:srgbClr val="20283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01968" y="2898648"/>
            <a:ext cx="960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3FEE5C"/>
                </a:solidFill>
                <a:latin typeface="Inter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53527" y="2935224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EAF0FB"/>
                </a:solidFill>
                <a:latin typeface="Inter"/>
              </a:rPr>
              <a:t>Conception &amp; architecture technique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53527" y="3319272"/>
            <a:ext cx="4434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AA6C6"/>
                </a:solidFill>
                <a:latin typeface="Inter"/>
              </a:rPr>
              <a:t>Stack, choix justifiés, schéma système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3831335"/>
            <a:ext cx="960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FF9621"/>
                </a:solidFill>
                <a:latin typeface="Inter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18488" y="3867911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EAF0FB"/>
                </a:solidFill>
                <a:latin typeface="Inter"/>
              </a:rPr>
              <a:t>Le concept AION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18488" y="4251959"/>
            <a:ext cx="4434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AA6C6"/>
                </a:solidFill>
                <a:latin typeface="Inter"/>
              </a:rPr>
              <a:t>Signaler → Explorer → Décider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4617720"/>
            <a:ext cx="6035040" cy="12801"/>
          </a:xfrm>
          <a:prstGeom prst="rect">
            <a:avLst/>
          </a:prstGeom>
          <a:solidFill>
            <a:srgbClr val="20283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01968" y="3831335"/>
            <a:ext cx="960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25F2C2"/>
                </a:solidFill>
                <a:latin typeface="Inter"/>
              </a:rPr>
              <a:t>06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53527" y="3867911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EAF0FB"/>
                </a:solidFill>
                <a:latin typeface="Inter"/>
              </a:rPr>
              <a:t>Mise en œuvre &amp; gestion de projet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53527" y="4251959"/>
            <a:ext cx="4434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AA6C6"/>
                </a:solidFill>
                <a:latin typeface="Inter"/>
              </a:rPr>
              <a:t>Du Computer Vision au déploiement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4764024"/>
            <a:ext cx="960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FFE45C"/>
                </a:solidFill>
                <a:latin typeface="Inter"/>
              </a:rPr>
              <a:t>07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18488" y="4800600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EAF0FB"/>
                </a:solidFill>
                <a:latin typeface="Inter"/>
              </a:rPr>
              <a:t>Compétences &amp; retours d’expérience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18488" y="5184648"/>
            <a:ext cx="4434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AA6C6"/>
                </a:solidFill>
                <a:latin typeface="Inter"/>
              </a:rPr>
              <a:t>Cycle complet de développement IA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5550408"/>
            <a:ext cx="6035040" cy="12801"/>
          </a:xfrm>
          <a:prstGeom prst="rect">
            <a:avLst/>
          </a:prstGeom>
          <a:solidFill>
            <a:srgbClr val="20283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01968" y="4764024"/>
            <a:ext cx="960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29D8FF"/>
                </a:solidFill>
                <a:latin typeface="Inter"/>
              </a:rPr>
              <a:t>08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53527" y="4800600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EAF0FB"/>
                </a:solidFill>
                <a:latin typeface="Inter"/>
              </a:rPr>
              <a:t>Bilan, perspectives &amp; conclusion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53527" y="5184648"/>
            <a:ext cx="4434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AA6C6"/>
                </a:solidFill>
                <a:latin typeface="Inter"/>
              </a:rPr>
              <a:t>Résultats obtenus et suites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643737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29D8FF"/>
                </a:solidFill>
                <a:latin typeface="Inter"/>
              </a:rPr>
              <a:t>BNDRS</a:t>
            </a:r>
            <a:r>
              <a:rPr sz="1000" b="0" i="0">
                <a:solidFill>
                  <a:srgbClr val="59647F"/>
                </a:solidFill>
                <a:latin typeface="Inter"/>
              </a:rPr>
              <a:t>   ·   Soutenance de stage — DEV IA · Greta de Besançon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637215" y="6437376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9647F"/>
                </a:solidFill>
                <a:latin typeface="Inter"/>
              </a:rPr>
              <a:t>02</a:t>
            </a:r>
          </a:p>
        </p:txBody>
      </p:sp>
      <p:sp>
        <p:nvSpPr>
          <p:cNvPr id="37" name="Oval 36"/>
          <p:cNvSpPr/>
          <p:nvPr/>
        </p:nvSpPr>
        <p:spPr>
          <a:xfrm>
            <a:off x="11469319" y="6501384"/>
            <a:ext cx="91440" cy="91440"/>
          </a:xfrm>
          <a:prstGeom prst="ellipse">
            <a:avLst/>
          </a:prstGeom>
          <a:solidFill>
            <a:srgbClr val="29D8FF"/>
          </a:solidFill>
          <a:ln>
            <a:noFill/>
          </a:ln>
          <a:effectLst>
            <a:glow rad="76200">
              <a:srgbClr val="29D8FF">
                <a:alpha val="5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0608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767992" y="-2240279"/>
            <a:ext cx="15727680" cy="10241280"/>
          </a:xfrm>
          <a:prstGeom prst="ellipse">
            <a:avLst/>
          </a:prstGeom>
          <a:solidFill>
            <a:srgbClr val="0E1626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340967" y="-411480"/>
            <a:ext cx="9509760" cy="6583680"/>
          </a:xfrm>
          <a:prstGeom prst="ellipse">
            <a:avLst/>
          </a:prstGeom>
          <a:solidFill>
            <a:srgbClr val="121C30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475488"/>
            <a:ext cx="91440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 spc="180">
                <a:solidFill>
                  <a:srgbClr val="29D8FF"/>
                </a:solidFill>
                <a:latin typeface="Inter"/>
              </a:rPr>
              <a:t>PRÉSENTATION DE LA STRUCTURE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68096"/>
            <a:ext cx="109728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EAF0FB"/>
                </a:solidFill>
                <a:latin typeface="Inter"/>
              </a:rPr>
              <a:t>CoAI — l’association &amp; le cadre du stage</a:t>
            </a:r>
          </a:p>
        </p:txBody>
      </p:sp>
      <p:sp>
        <p:nvSpPr>
          <p:cNvPr id="7" name="Oval 6"/>
          <p:cNvSpPr/>
          <p:nvPr/>
        </p:nvSpPr>
        <p:spPr>
          <a:xfrm>
            <a:off x="603504" y="1993391"/>
            <a:ext cx="219456" cy="219456"/>
          </a:xfrm>
          <a:prstGeom prst="ellipse">
            <a:avLst/>
          </a:prstGeom>
          <a:solidFill>
            <a:srgbClr val="29D8FF"/>
          </a:solidFill>
          <a:ln>
            <a:noFill/>
          </a:ln>
          <a:effectLst>
            <a:glow rad="76200">
              <a:srgbClr val="29D8FF">
                <a:alpha val="5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874519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EAF0FB"/>
                </a:solidFill>
                <a:latin typeface="Inter"/>
              </a:rPr>
              <a:t>Association CoAI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33172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9AA6C6"/>
                </a:solidFill>
                <a:latin typeface="Inter"/>
              </a:rPr>
              <a:t>Collectif fondé par d’anciens étudiants DEV 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926080"/>
            <a:ext cx="52120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9D8FF"/>
                </a:solidFill>
                <a:latin typeface="Inter"/>
              </a:rPr>
              <a:t>Mission — </a:t>
            </a:r>
            <a:r>
              <a:rPr sz="1300" b="0" i="0">
                <a:solidFill>
                  <a:srgbClr val="EAF0FB"/>
                </a:solidFill>
                <a:latin typeface="Inter"/>
              </a:rPr>
              <a:t>accompagner les porteurs de projets et transformer leurs idées en systèmes IA concrets et évolutifs.</a:t>
            </a:r>
          </a:p>
        </p:txBody>
      </p:sp>
      <p:sp>
        <p:nvSpPr>
          <p:cNvPr id="11" name="Oval 10"/>
          <p:cNvSpPr/>
          <p:nvPr/>
        </p:nvSpPr>
        <p:spPr>
          <a:xfrm>
            <a:off x="617219" y="3890772"/>
            <a:ext cx="82296" cy="82296"/>
          </a:xfrm>
          <a:prstGeom prst="ellipse">
            <a:avLst/>
          </a:prstGeom>
          <a:solidFill>
            <a:srgbClr val="29D8FF"/>
          </a:solidFill>
          <a:ln>
            <a:noFill/>
          </a:ln>
          <a:effectLst>
            <a:glow rad="76200">
              <a:srgbClr val="29D8FF">
                <a:alpha val="5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84048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AF0FB"/>
                </a:solidFill>
                <a:latin typeface="Inter"/>
              </a:rPr>
              <a:t>Origine — </a:t>
            </a:r>
            <a:r>
              <a:rPr sz="1200" b="0" i="0">
                <a:solidFill>
                  <a:srgbClr val="9AA6C6"/>
                </a:solidFill>
                <a:latin typeface="Inter"/>
              </a:rPr>
              <a:t>Créée par des DEV IA (dont Jimmy, mon tuteur)</a:t>
            </a:r>
          </a:p>
        </p:txBody>
      </p:sp>
      <p:sp>
        <p:nvSpPr>
          <p:cNvPr id="13" name="Oval 12"/>
          <p:cNvSpPr/>
          <p:nvPr/>
        </p:nvSpPr>
        <p:spPr>
          <a:xfrm>
            <a:off x="617219" y="4567428"/>
            <a:ext cx="82296" cy="82296"/>
          </a:xfrm>
          <a:prstGeom prst="ellipse">
            <a:avLst/>
          </a:prstGeom>
          <a:solidFill>
            <a:srgbClr val="FF4CC5"/>
          </a:solidFill>
          <a:ln>
            <a:noFill/>
          </a:ln>
          <a:effectLst>
            <a:glow rad="76200">
              <a:srgbClr val="FF4CC5">
                <a:alpha val="5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451713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AF0FB"/>
                </a:solidFill>
                <a:latin typeface="Inter"/>
              </a:rPr>
              <a:t>Esprit — </a:t>
            </a:r>
            <a:r>
              <a:rPr sz="1200" b="0" i="0">
                <a:solidFill>
                  <a:srgbClr val="9AA6C6"/>
                </a:solidFill>
                <a:latin typeface="Inter"/>
              </a:rPr>
              <a:t>Entraide, projets réels, montée en compétence</a:t>
            </a:r>
          </a:p>
        </p:txBody>
      </p:sp>
      <p:sp>
        <p:nvSpPr>
          <p:cNvPr id="15" name="Oval 14"/>
          <p:cNvSpPr/>
          <p:nvPr/>
        </p:nvSpPr>
        <p:spPr>
          <a:xfrm>
            <a:off x="617219" y="5244083"/>
            <a:ext cx="82296" cy="82296"/>
          </a:xfrm>
          <a:prstGeom prst="ellipse">
            <a:avLst/>
          </a:prstGeom>
          <a:solidFill>
            <a:srgbClr val="A862FF"/>
          </a:solidFill>
          <a:ln>
            <a:noFill/>
          </a:ln>
          <a:effectLst>
            <a:glow rad="76200">
              <a:srgbClr val="A862FF">
                <a:alpha val="5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519379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AF0FB"/>
                </a:solidFill>
                <a:latin typeface="Inter"/>
              </a:rPr>
              <a:t>Mon stage — </a:t>
            </a:r>
            <a:r>
              <a:rPr sz="1200" b="0" i="0">
                <a:solidFill>
                  <a:srgbClr val="9AA6C6"/>
                </a:solidFill>
                <a:latin typeface="Inter"/>
              </a:rPr>
              <a:t>Pleinement intégré à leur mission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920240"/>
            <a:ext cx="18288" cy="3931920"/>
          </a:xfrm>
          <a:prstGeom prst="rect">
            <a:avLst/>
          </a:prstGeom>
          <a:solidFill>
            <a:srgbClr val="20283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192024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spc="120">
                <a:solidFill>
                  <a:srgbClr val="29D8FF"/>
                </a:solidFill>
                <a:latin typeface="Inter"/>
              </a:rPr>
              <a:t>Cadre du stage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2487168"/>
            <a:ext cx="1828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900" b="1" i="0">
                <a:solidFill>
                  <a:srgbClr val="29D8FF"/>
                </a:solidFill>
                <a:latin typeface="Inter"/>
              </a:rPr>
              <a:t>1ʳᵉ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49640" y="2606040"/>
            <a:ext cx="30175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9AA6C6"/>
                </a:solidFill>
                <a:latin typeface="Inter"/>
              </a:rPr>
              <a:t>année — DEV IA, Greta de Besançon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29400" y="3236976"/>
            <a:ext cx="4892040" cy="12801"/>
          </a:xfrm>
          <a:prstGeom prst="rect">
            <a:avLst/>
          </a:prstGeom>
          <a:solidFill>
            <a:srgbClr val="20283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29400" y="3355848"/>
            <a:ext cx="1828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900" b="1" i="0">
                <a:solidFill>
                  <a:srgbClr val="FF4CC5"/>
                </a:solidFill>
                <a:latin typeface="Inter"/>
              </a:rPr>
              <a:t>2×3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9640" y="3474720"/>
            <a:ext cx="30175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9AA6C6"/>
                </a:solidFill>
                <a:latin typeface="Inter"/>
              </a:rPr>
              <a:t>semaines, réparties sur la période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29400" y="4105656"/>
            <a:ext cx="4892040" cy="12801"/>
          </a:xfrm>
          <a:prstGeom prst="rect">
            <a:avLst/>
          </a:prstGeom>
          <a:solidFill>
            <a:srgbClr val="20283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29400" y="4224528"/>
            <a:ext cx="1828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900" b="1" i="0">
                <a:solidFill>
                  <a:srgbClr val="A862FF"/>
                </a:solidFill>
                <a:latin typeface="Inter"/>
              </a:rPr>
              <a:t>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49640" y="4343400"/>
            <a:ext cx="30175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9AA6C6"/>
                </a:solidFill>
                <a:latin typeface="Inter"/>
              </a:rPr>
              <a:t>distanciel — coordination via Discord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29400" y="4974336"/>
            <a:ext cx="4892040" cy="12801"/>
          </a:xfrm>
          <a:prstGeom prst="rect">
            <a:avLst/>
          </a:prstGeom>
          <a:solidFill>
            <a:srgbClr val="20283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29400" y="5093208"/>
            <a:ext cx="1828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900" b="1" i="0">
                <a:solidFill>
                  <a:srgbClr val="3FEE5C"/>
                </a:solidFill>
                <a:latin typeface="Inter"/>
              </a:rPr>
              <a:t>≈210 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49640" y="5212080"/>
            <a:ext cx="30175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9AA6C6"/>
                </a:solidFill>
                <a:latin typeface="Inter"/>
              </a:rPr>
              <a:t>sur mon propre projet : BNDRS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643737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29D8FF"/>
                </a:solidFill>
                <a:latin typeface="Inter"/>
              </a:rPr>
              <a:t>BNDRS</a:t>
            </a:r>
            <a:r>
              <a:rPr sz="1000" b="0" i="0">
                <a:solidFill>
                  <a:srgbClr val="59647F"/>
                </a:solidFill>
                <a:latin typeface="Inter"/>
              </a:rPr>
              <a:t>   ·   Soutenance de stage — DEV IA · Greta de Besançon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37215" y="6437376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9647F"/>
                </a:solidFill>
                <a:latin typeface="Inter"/>
              </a:rPr>
              <a:t>03</a:t>
            </a:r>
          </a:p>
        </p:txBody>
      </p:sp>
      <p:sp>
        <p:nvSpPr>
          <p:cNvPr id="32" name="Oval 31"/>
          <p:cNvSpPr/>
          <p:nvPr/>
        </p:nvSpPr>
        <p:spPr>
          <a:xfrm>
            <a:off x="11469319" y="6501384"/>
            <a:ext cx="91440" cy="91440"/>
          </a:xfrm>
          <a:prstGeom prst="ellipse">
            <a:avLst/>
          </a:prstGeom>
          <a:solidFill>
            <a:srgbClr val="29D8FF"/>
          </a:solidFill>
          <a:ln>
            <a:noFill/>
          </a:ln>
          <a:effectLst>
            <a:glow rad="76200">
              <a:srgbClr val="29D8FF">
                <a:alpha val="5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0608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767992" y="-2240279"/>
            <a:ext cx="15727680" cy="10241280"/>
          </a:xfrm>
          <a:prstGeom prst="ellipse">
            <a:avLst/>
          </a:prstGeom>
          <a:solidFill>
            <a:srgbClr val="0E1626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340967" y="-411480"/>
            <a:ext cx="9509760" cy="6583680"/>
          </a:xfrm>
          <a:prstGeom prst="ellipse">
            <a:avLst/>
          </a:prstGeom>
          <a:solidFill>
            <a:srgbClr val="121C30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475488"/>
            <a:ext cx="91440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 spc="180">
                <a:solidFill>
                  <a:srgbClr val="29D8FF"/>
                </a:solidFill>
                <a:latin typeface="Inter"/>
              </a:rPr>
              <a:t>COMPRÉHENSION DU BESOIN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68096"/>
            <a:ext cx="109728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EAF0FB"/>
                </a:solidFill>
                <a:latin typeface="Inter"/>
              </a:rPr>
              <a:t>Le problème adressé — et le positionnement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64208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9AA6C6"/>
                </a:solidFill>
                <a:latin typeface="Inter"/>
              </a:rPr>
              <a:t>Les outils actuels </a:t>
            </a:r>
            <a:r>
              <a:rPr sz="1400" b="1" i="0">
                <a:solidFill>
                  <a:srgbClr val="EAF0FB"/>
                </a:solidFill>
                <a:latin typeface="Inter"/>
              </a:rPr>
              <a:t>tranchent </a:t>
            </a:r>
            <a:r>
              <a:rPr sz="1400" b="0" i="0">
                <a:solidFill>
                  <a:srgbClr val="9AA6C6"/>
                </a:solidFill>
                <a:latin typeface="Inter"/>
              </a:rPr>
              <a:t>(vrai / faux). BNDRS propose plutôt d’</a:t>
            </a:r>
            <a:r>
              <a:rPr sz="1400" b="1" i="0">
                <a:solidFill>
                  <a:srgbClr val="29D8FF"/>
                </a:solidFill>
                <a:latin typeface="Inter"/>
              </a:rPr>
              <a:t>explorer </a:t>
            </a:r>
            <a:r>
              <a:rPr sz="1400" b="0" i="0">
                <a:solidFill>
                  <a:srgbClr val="9AA6C6"/>
                </a:solidFill>
                <a:latin typeface="Inter"/>
              </a:rPr>
              <a:t>un contenu et d’en révéler les tensions, émotions et angles de lecture.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697480"/>
            <a:ext cx="41148" cy="3108960"/>
          </a:xfrm>
          <a:prstGeom prst="rect">
            <a:avLst/>
          </a:prstGeom>
          <a:solidFill>
            <a:srgbClr val="3FE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697480"/>
            <a:ext cx="41148" cy="3108960"/>
          </a:xfrm>
          <a:prstGeom prst="rect">
            <a:avLst/>
          </a:prstGeom>
          <a:solidFill>
            <a:srgbClr val="3FEE5C"/>
          </a:solidFill>
          <a:ln>
            <a:noFill/>
          </a:ln>
          <a:effectLst>
            <a:glow rad="63500">
              <a:srgbClr val="3FEE5C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19" y="2816352"/>
            <a:ext cx="182880" cy="182880"/>
          </a:xfrm>
          <a:prstGeom prst="ellipse">
            <a:avLst/>
          </a:prstGeom>
          <a:solidFill>
            <a:srgbClr val="3FEE5C"/>
          </a:solidFill>
          <a:ln>
            <a:noFill/>
          </a:ln>
          <a:effectLst>
            <a:glow rad="76200">
              <a:srgbClr val="3FEE5C">
                <a:alpha val="5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25880" y="2706624"/>
            <a:ext cx="4572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3FEE5C"/>
                </a:solidFill>
                <a:latin typeface="Inter"/>
              </a:rPr>
              <a:t>Ce que BNDRS est</a:t>
            </a:r>
          </a:p>
        </p:txBody>
      </p:sp>
      <p:sp>
        <p:nvSpPr>
          <p:cNvPr id="12" name="Oval 11"/>
          <p:cNvSpPr/>
          <p:nvPr/>
        </p:nvSpPr>
        <p:spPr>
          <a:xfrm>
            <a:off x="832103" y="3456432"/>
            <a:ext cx="73152" cy="73152"/>
          </a:xfrm>
          <a:prstGeom prst="ellipse">
            <a:avLst/>
          </a:prstGeom>
          <a:solidFill>
            <a:srgbClr val="3FEE5C"/>
          </a:solidFill>
          <a:ln>
            <a:noFill/>
          </a:ln>
          <a:effectLst>
            <a:glow rad="76200">
              <a:srgbClr val="3FEE5C">
                <a:alpha val="5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401568"/>
            <a:ext cx="45720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EAF0FB"/>
                </a:solidFill>
                <a:latin typeface="Inter"/>
              </a:rPr>
              <a:t>Un moteur d’exploration cognitive &amp; narrative</a:t>
            </a:r>
          </a:p>
        </p:txBody>
      </p:sp>
      <p:sp>
        <p:nvSpPr>
          <p:cNvPr id="14" name="Oval 13"/>
          <p:cNvSpPr/>
          <p:nvPr/>
        </p:nvSpPr>
        <p:spPr>
          <a:xfrm>
            <a:off x="832103" y="4059935"/>
            <a:ext cx="73152" cy="73152"/>
          </a:xfrm>
          <a:prstGeom prst="ellipse">
            <a:avLst/>
          </a:prstGeom>
          <a:solidFill>
            <a:srgbClr val="3FEE5C"/>
          </a:solidFill>
          <a:ln>
            <a:noFill/>
          </a:ln>
          <a:effectLst>
            <a:glow rad="76200">
              <a:srgbClr val="3FEE5C">
                <a:alpha val="5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4005072"/>
            <a:ext cx="45720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EAF0FB"/>
                </a:solidFill>
                <a:latin typeface="Inter"/>
              </a:rPr>
              <a:t>Un révélateur de motifs, structures et tensions</a:t>
            </a:r>
          </a:p>
        </p:txBody>
      </p:sp>
      <p:sp>
        <p:nvSpPr>
          <p:cNvPr id="16" name="Oval 15"/>
          <p:cNvSpPr/>
          <p:nvPr/>
        </p:nvSpPr>
        <p:spPr>
          <a:xfrm>
            <a:off x="832103" y="4663440"/>
            <a:ext cx="73152" cy="73152"/>
          </a:xfrm>
          <a:prstGeom prst="ellipse">
            <a:avLst/>
          </a:prstGeom>
          <a:solidFill>
            <a:srgbClr val="3FEE5C"/>
          </a:solidFill>
          <a:ln>
            <a:noFill/>
          </a:ln>
          <a:effectLst>
            <a:glow rad="76200">
              <a:srgbClr val="3FEE5C">
                <a:alpha val="5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608576"/>
            <a:ext cx="45720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EAF0FB"/>
                </a:solidFill>
                <a:latin typeface="Inter"/>
              </a:rPr>
              <a:t>Un outil qui signale émotions, cadrage et omissions</a:t>
            </a:r>
          </a:p>
        </p:txBody>
      </p:sp>
      <p:sp>
        <p:nvSpPr>
          <p:cNvPr id="18" name="Oval 17"/>
          <p:cNvSpPr/>
          <p:nvPr/>
        </p:nvSpPr>
        <p:spPr>
          <a:xfrm>
            <a:off x="832103" y="5266944"/>
            <a:ext cx="73152" cy="73152"/>
          </a:xfrm>
          <a:prstGeom prst="ellipse">
            <a:avLst/>
          </a:prstGeom>
          <a:solidFill>
            <a:srgbClr val="3FEE5C"/>
          </a:solidFill>
          <a:ln>
            <a:noFill/>
          </a:ln>
          <a:effectLst>
            <a:glow rad="76200">
              <a:srgbClr val="3FEE5C">
                <a:alpha val="5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5212080"/>
            <a:ext cx="45720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EAF0FB"/>
                </a:solidFill>
                <a:latin typeface="Inter"/>
              </a:rPr>
              <a:t>Un espace où l’utilisateur garde la décision finale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55080" y="2697480"/>
            <a:ext cx="41148" cy="3108960"/>
          </a:xfrm>
          <a:prstGeom prst="rect">
            <a:avLst/>
          </a:prstGeom>
          <a:solidFill>
            <a:srgbClr val="FF9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55080" y="2697480"/>
            <a:ext cx="41148" cy="3108960"/>
          </a:xfrm>
          <a:prstGeom prst="rect">
            <a:avLst/>
          </a:prstGeom>
          <a:solidFill>
            <a:srgbClr val="FF9621"/>
          </a:solidFill>
          <a:ln>
            <a:noFill/>
          </a:ln>
          <a:effectLst>
            <a:glow rad="63500">
              <a:srgbClr val="FF9621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748272" y="2816352"/>
            <a:ext cx="182880" cy="182880"/>
          </a:xfrm>
          <a:prstGeom prst="ellipse">
            <a:avLst/>
          </a:prstGeom>
          <a:solidFill>
            <a:srgbClr val="FF9621"/>
          </a:solidFill>
          <a:ln>
            <a:noFill/>
          </a:ln>
          <a:effectLst>
            <a:glow rad="76200">
              <a:srgbClr val="FF9621">
                <a:alpha val="5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114032" y="2706624"/>
            <a:ext cx="4572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9621"/>
                </a:solidFill>
                <a:latin typeface="Inter"/>
              </a:rPr>
              <a:t>Ce que BNDRS n’est pas</a:t>
            </a:r>
          </a:p>
        </p:txBody>
      </p:sp>
      <p:sp>
        <p:nvSpPr>
          <p:cNvPr id="24" name="Oval 23"/>
          <p:cNvSpPr/>
          <p:nvPr/>
        </p:nvSpPr>
        <p:spPr>
          <a:xfrm>
            <a:off x="6620256" y="3456432"/>
            <a:ext cx="73152" cy="73152"/>
          </a:xfrm>
          <a:prstGeom prst="ellipse">
            <a:avLst/>
          </a:prstGeom>
          <a:solidFill>
            <a:srgbClr val="FF9621"/>
          </a:solidFill>
          <a:ln>
            <a:noFill/>
          </a:ln>
          <a:effectLst>
            <a:glow rad="76200">
              <a:srgbClr val="FF9621">
                <a:alpha val="5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85432" y="3401568"/>
            <a:ext cx="45720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EAF0FB"/>
                </a:solidFill>
                <a:latin typeface="Inter"/>
              </a:rPr>
              <a:t>Un fact-checker — il ne tranche pas le vrai / faux</a:t>
            </a:r>
          </a:p>
        </p:txBody>
      </p:sp>
      <p:sp>
        <p:nvSpPr>
          <p:cNvPr id="26" name="Oval 25"/>
          <p:cNvSpPr/>
          <p:nvPr/>
        </p:nvSpPr>
        <p:spPr>
          <a:xfrm>
            <a:off x="6620256" y="4059935"/>
            <a:ext cx="73152" cy="73152"/>
          </a:xfrm>
          <a:prstGeom prst="ellipse">
            <a:avLst/>
          </a:prstGeom>
          <a:solidFill>
            <a:srgbClr val="FF9621"/>
          </a:solidFill>
          <a:ln>
            <a:noFill/>
          </a:ln>
          <a:effectLst>
            <a:glow rad="76200">
              <a:srgbClr val="FF9621">
                <a:alpha val="5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85432" y="4005072"/>
            <a:ext cx="45720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EAF0FB"/>
                </a:solidFill>
                <a:latin typeface="Inter"/>
              </a:rPr>
              <a:t>Un juge d’intention — aucun procès d’auteur</a:t>
            </a:r>
          </a:p>
        </p:txBody>
      </p:sp>
      <p:sp>
        <p:nvSpPr>
          <p:cNvPr id="28" name="Oval 27"/>
          <p:cNvSpPr/>
          <p:nvPr/>
        </p:nvSpPr>
        <p:spPr>
          <a:xfrm>
            <a:off x="6620256" y="4663440"/>
            <a:ext cx="73152" cy="73152"/>
          </a:xfrm>
          <a:prstGeom prst="ellipse">
            <a:avLst/>
          </a:prstGeom>
          <a:solidFill>
            <a:srgbClr val="FF9621"/>
          </a:solidFill>
          <a:ln>
            <a:noFill/>
          </a:ln>
          <a:effectLst>
            <a:glow rad="76200">
              <a:srgbClr val="FF9621">
                <a:alpha val="5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85432" y="4608576"/>
            <a:ext cx="45720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EAF0FB"/>
                </a:solidFill>
                <a:latin typeface="Inter"/>
              </a:rPr>
              <a:t>Une vérité affichée — la lumière = tension, pas certitude</a:t>
            </a:r>
          </a:p>
        </p:txBody>
      </p:sp>
      <p:sp>
        <p:nvSpPr>
          <p:cNvPr id="30" name="Oval 29"/>
          <p:cNvSpPr/>
          <p:nvPr/>
        </p:nvSpPr>
        <p:spPr>
          <a:xfrm>
            <a:off x="6620256" y="5266944"/>
            <a:ext cx="73152" cy="73152"/>
          </a:xfrm>
          <a:prstGeom prst="ellipse">
            <a:avLst/>
          </a:prstGeom>
          <a:solidFill>
            <a:srgbClr val="FF9621"/>
          </a:solidFill>
          <a:ln>
            <a:noFill/>
          </a:ln>
          <a:effectLst>
            <a:glow rad="76200">
              <a:srgbClr val="FF9621">
                <a:alpha val="5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85432" y="5212080"/>
            <a:ext cx="45720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EAF0FB"/>
                </a:solidFill>
                <a:latin typeface="Inter"/>
              </a:rPr>
              <a:t>Une boîte noire — l’exploration reste optionnelle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43737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29D8FF"/>
                </a:solidFill>
                <a:latin typeface="Inter"/>
              </a:rPr>
              <a:t>BNDRS</a:t>
            </a:r>
            <a:r>
              <a:rPr sz="1000" b="0" i="0">
                <a:solidFill>
                  <a:srgbClr val="59647F"/>
                </a:solidFill>
                <a:latin typeface="Inter"/>
              </a:rPr>
              <a:t>   ·   Soutenance de stage — DEV IA · Greta de Besançon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37215" y="6437376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9647F"/>
                </a:solidFill>
                <a:latin typeface="Inter"/>
              </a:rPr>
              <a:t>04</a:t>
            </a:r>
          </a:p>
        </p:txBody>
      </p:sp>
      <p:sp>
        <p:nvSpPr>
          <p:cNvPr id="34" name="Oval 33"/>
          <p:cNvSpPr/>
          <p:nvPr/>
        </p:nvSpPr>
        <p:spPr>
          <a:xfrm>
            <a:off x="11469319" y="6501384"/>
            <a:ext cx="91440" cy="91440"/>
          </a:xfrm>
          <a:prstGeom prst="ellipse">
            <a:avLst/>
          </a:prstGeom>
          <a:solidFill>
            <a:srgbClr val="29D8FF"/>
          </a:solidFill>
          <a:ln>
            <a:noFill/>
          </a:ln>
          <a:effectLst>
            <a:glow rad="76200">
              <a:srgbClr val="29D8FF">
                <a:alpha val="5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0608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767992" y="-2240279"/>
            <a:ext cx="15727680" cy="10241280"/>
          </a:xfrm>
          <a:prstGeom prst="ellipse">
            <a:avLst/>
          </a:prstGeom>
          <a:solidFill>
            <a:srgbClr val="0E1626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340967" y="-411480"/>
            <a:ext cx="9509760" cy="6583680"/>
          </a:xfrm>
          <a:prstGeom prst="ellipse">
            <a:avLst/>
          </a:prstGeom>
          <a:solidFill>
            <a:srgbClr val="121C30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475488"/>
            <a:ext cx="91440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 spc="180">
                <a:solidFill>
                  <a:srgbClr val="29D8FF"/>
                </a:solidFill>
                <a:latin typeface="Inter"/>
              </a:rPr>
              <a:t>ÉTAT DE L’ART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68096"/>
            <a:ext cx="109728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EAF0FB"/>
                </a:solidFill>
                <a:latin typeface="Inter"/>
              </a:rPr>
              <a:t>Panorama des approches IA explorées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27632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9AA6C6"/>
                </a:solidFill>
                <a:latin typeface="Inter"/>
              </a:rPr>
              <a:t>Chaque brique a été choisie après une veille comparative — compétence clé du référentiel.</a:t>
            </a:r>
          </a:p>
        </p:txBody>
      </p:sp>
      <p:sp>
        <p:nvSpPr>
          <p:cNvPr id="8" name="Oval 7"/>
          <p:cNvSpPr/>
          <p:nvPr/>
        </p:nvSpPr>
        <p:spPr>
          <a:xfrm>
            <a:off x="585216" y="2386584"/>
            <a:ext cx="182880" cy="182880"/>
          </a:xfrm>
          <a:prstGeom prst="ellipse">
            <a:avLst/>
          </a:prstGeom>
          <a:solidFill>
            <a:srgbClr val="29D8FF"/>
          </a:solidFill>
          <a:ln>
            <a:noFill/>
          </a:ln>
          <a:effectLst>
            <a:glow rad="76200">
              <a:srgbClr val="29D8FF">
                <a:alpha val="5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50976" y="2331720"/>
            <a:ext cx="5074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AF0FB"/>
                </a:solidFill>
                <a:latin typeface="Inter"/>
              </a:rPr>
              <a:t>LLM &amp; NLP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715768"/>
            <a:ext cx="5074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AA6C6"/>
                </a:solidFill>
                <a:latin typeface="Inter"/>
              </a:rPr>
              <a:t>Compréhension et génération de texte : tokenisation, embeddings, inférence locale via Ollama.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50976" y="3355848"/>
            <a:ext cx="5074920" cy="12801"/>
          </a:xfrm>
          <a:prstGeom prst="rect">
            <a:avLst/>
          </a:prstGeom>
          <a:solidFill>
            <a:srgbClr val="20283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665976" y="2386584"/>
            <a:ext cx="182880" cy="182880"/>
          </a:xfrm>
          <a:prstGeom prst="ellipse">
            <a:avLst/>
          </a:prstGeom>
          <a:solidFill>
            <a:srgbClr val="FF4CC5"/>
          </a:solidFill>
          <a:ln>
            <a:noFill/>
          </a:ln>
          <a:effectLst>
            <a:glow rad="76200">
              <a:srgbClr val="FF4CC5">
                <a:alpha val="5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31736" y="2331720"/>
            <a:ext cx="5074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AF0FB"/>
                </a:solidFill>
                <a:latin typeface="Inter"/>
              </a:rPr>
              <a:t>Computer Vision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31736" y="2715768"/>
            <a:ext cx="5074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AA6C6"/>
                </a:solidFill>
                <a:latin typeface="Inter"/>
              </a:rPr>
              <a:t>Détection d’objets (YOLO) et traitement d’images (OpenCV) — point de départ du stage.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31736" y="3355848"/>
            <a:ext cx="5074920" cy="12801"/>
          </a:xfrm>
          <a:prstGeom prst="rect">
            <a:avLst/>
          </a:prstGeom>
          <a:solidFill>
            <a:srgbClr val="20283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85216" y="3593592"/>
            <a:ext cx="182880" cy="182880"/>
          </a:xfrm>
          <a:prstGeom prst="ellipse">
            <a:avLst/>
          </a:prstGeom>
          <a:solidFill>
            <a:srgbClr val="A862FF"/>
          </a:solidFill>
          <a:ln>
            <a:noFill/>
          </a:ln>
          <a:effectLst>
            <a:glow rad="76200">
              <a:srgbClr val="A862FF">
                <a:alpha val="5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0976" y="3538728"/>
            <a:ext cx="5074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AF0FB"/>
                </a:solidFill>
                <a:latin typeface="Inter"/>
              </a:rPr>
              <a:t>Fact-checking &amp; sentiment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0976" y="3922776"/>
            <a:ext cx="5074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AA6C6"/>
                </a:solidFill>
                <a:latin typeface="Inter"/>
              </a:rPr>
              <a:t>Approches qui tranchent ou notent — leurs limites définissent le créneau de BNDRS.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50976" y="4562856"/>
            <a:ext cx="5074920" cy="12801"/>
          </a:xfrm>
          <a:prstGeom prst="rect">
            <a:avLst/>
          </a:prstGeom>
          <a:solidFill>
            <a:srgbClr val="20283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665976" y="3593592"/>
            <a:ext cx="182880" cy="182880"/>
          </a:xfrm>
          <a:prstGeom prst="ellipse">
            <a:avLst/>
          </a:prstGeom>
          <a:solidFill>
            <a:srgbClr val="3FEE5C"/>
          </a:solidFill>
          <a:ln>
            <a:noFill/>
          </a:ln>
          <a:effectLst>
            <a:glow rad="76200">
              <a:srgbClr val="3FEE5C">
                <a:alpha val="5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31736" y="3538728"/>
            <a:ext cx="5074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AF0FB"/>
                </a:solidFill>
                <a:latin typeface="Inter"/>
              </a:rPr>
              <a:t>LLM locaux &amp; souveraineté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31736" y="3922776"/>
            <a:ext cx="5074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AA6C6"/>
                </a:solidFill>
                <a:latin typeface="Inter"/>
              </a:rPr>
              <a:t>Modèles auto-hébergés (Ollama) : confidentialité des données, maîtrise des coûts.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31736" y="4562856"/>
            <a:ext cx="5074920" cy="12801"/>
          </a:xfrm>
          <a:prstGeom prst="rect">
            <a:avLst/>
          </a:prstGeom>
          <a:solidFill>
            <a:srgbClr val="20283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85216" y="4800600"/>
            <a:ext cx="182880" cy="182880"/>
          </a:xfrm>
          <a:prstGeom prst="ellipse">
            <a:avLst/>
          </a:prstGeom>
          <a:solidFill>
            <a:srgbClr val="FF9621"/>
          </a:solidFill>
          <a:ln>
            <a:noFill/>
          </a:ln>
          <a:effectLst>
            <a:glow rad="76200">
              <a:srgbClr val="FF9621">
                <a:alpha val="5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50976" y="4745736"/>
            <a:ext cx="5074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AF0FB"/>
                </a:solidFill>
                <a:latin typeface="Inter"/>
              </a:rPr>
              <a:t>Agents &amp; orchestration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0976" y="5129783"/>
            <a:ext cx="5074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AA6C6"/>
                </a:solidFill>
                <a:latin typeface="Inter"/>
              </a:rPr>
              <a:t>Workflows et agents (N8N) pour router les tâches vers le bon modèle.</a:t>
            </a:r>
          </a:p>
        </p:txBody>
      </p:sp>
      <p:sp>
        <p:nvSpPr>
          <p:cNvPr id="27" name="Oval 26"/>
          <p:cNvSpPr/>
          <p:nvPr/>
        </p:nvSpPr>
        <p:spPr>
          <a:xfrm>
            <a:off x="6665976" y="4800600"/>
            <a:ext cx="182880" cy="182880"/>
          </a:xfrm>
          <a:prstGeom prst="ellipse">
            <a:avLst/>
          </a:prstGeom>
          <a:solidFill>
            <a:srgbClr val="25F2C2"/>
          </a:solidFill>
          <a:ln>
            <a:noFill/>
          </a:ln>
          <a:effectLst>
            <a:glow rad="76200">
              <a:srgbClr val="25F2C2">
                <a:alpha val="5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31736" y="4745736"/>
            <a:ext cx="5074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AF0FB"/>
                </a:solidFill>
                <a:latin typeface="Inter"/>
              </a:rPr>
              <a:t>Prompt engineering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31736" y="5129783"/>
            <a:ext cx="5074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AA6C6"/>
                </a:solidFill>
                <a:latin typeface="Inter"/>
              </a:rPr>
              <a:t>Cadrage des modèles : Seed / TopK pour des sorties stables et reproductibles.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643737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29D8FF"/>
                </a:solidFill>
                <a:latin typeface="Inter"/>
              </a:rPr>
              <a:t>BNDRS</a:t>
            </a:r>
            <a:r>
              <a:rPr sz="1000" b="0" i="0">
                <a:solidFill>
                  <a:srgbClr val="59647F"/>
                </a:solidFill>
                <a:latin typeface="Inter"/>
              </a:rPr>
              <a:t>   ·   Soutenance de stage — DEV IA · Greta de Besançon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37215" y="6437376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9647F"/>
                </a:solidFill>
                <a:latin typeface="Inter"/>
              </a:rPr>
              <a:t>05</a:t>
            </a:r>
          </a:p>
        </p:txBody>
      </p:sp>
      <p:sp>
        <p:nvSpPr>
          <p:cNvPr id="32" name="Oval 31"/>
          <p:cNvSpPr/>
          <p:nvPr/>
        </p:nvSpPr>
        <p:spPr>
          <a:xfrm>
            <a:off x="11469319" y="6501384"/>
            <a:ext cx="91440" cy="91440"/>
          </a:xfrm>
          <a:prstGeom prst="ellipse">
            <a:avLst/>
          </a:prstGeom>
          <a:solidFill>
            <a:srgbClr val="29D8FF"/>
          </a:solidFill>
          <a:ln>
            <a:noFill/>
          </a:ln>
          <a:effectLst>
            <a:glow rad="76200">
              <a:srgbClr val="29D8FF">
                <a:alpha val="5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0608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767992" y="-2240279"/>
            <a:ext cx="15727680" cy="10241280"/>
          </a:xfrm>
          <a:prstGeom prst="ellipse">
            <a:avLst/>
          </a:prstGeom>
          <a:solidFill>
            <a:srgbClr val="0E1626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340967" y="-411480"/>
            <a:ext cx="9509760" cy="6583680"/>
          </a:xfrm>
          <a:prstGeom prst="ellipse">
            <a:avLst/>
          </a:prstGeom>
          <a:solidFill>
            <a:srgbClr val="121C30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475488"/>
            <a:ext cx="91440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 spc="180">
                <a:solidFill>
                  <a:srgbClr val="29D8FF"/>
                </a:solidFill>
                <a:latin typeface="Inter"/>
              </a:rPr>
              <a:t>CONCEPTION TECHNIQUE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68096"/>
            <a:ext cx="109728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EAF0FB"/>
                </a:solidFill>
                <a:latin typeface="Inter"/>
              </a:rPr>
              <a:t>Choix technologiques justifiés</a:t>
            </a:r>
          </a:p>
        </p:txBody>
      </p:sp>
      <p:sp>
        <p:nvSpPr>
          <p:cNvPr id="7" name="Oval 6"/>
          <p:cNvSpPr/>
          <p:nvPr/>
        </p:nvSpPr>
        <p:spPr>
          <a:xfrm>
            <a:off x="667512" y="2130552"/>
            <a:ext cx="164592" cy="164592"/>
          </a:xfrm>
          <a:prstGeom prst="ellipse">
            <a:avLst/>
          </a:prstGeom>
          <a:solidFill>
            <a:srgbClr val="29D8FF"/>
          </a:solidFill>
          <a:ln>
            <a:noFill/>
          </a:ln>
          <a:effectLst>
            <a:glow rad="76200">
              <a:srgbClr val="29D8FF">
                <a:alpha val="5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011680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EAF0FB"/>
                </a:solidFill>
                <a:latin typeface="Inter"/>
              </a:rPr>
              <a:t>Backend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2048256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9D8FF"/>
                </a:solidFill>
                <a:latin typeface="Consolas"/>
              </a:rPr>
              <a:t>Python · FastAPI · SQLite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8040" y="2029968"/>
            <a:ext cx="4434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9AA6C6"/>
                </a:solidFill>
                <a:latin typeface="Inter"/>
              </a:rPr>
              <a:t>Asynchrone, performant, documentation auto, persistance légère.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51560" y="2724912"/>
            <a:ext cx="10515600" cy="12801"/>
          </a:xfrm>
          <a:prstGeom prst="rect">
            <a:avLst/>
          </a:prstGeom>
          <a:solidFill>
            <a:srgbClr val="20283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67512" y="3118104"/>
            <a:ext cx="164592" cy="164592"/>
          </a:xfrm>
          <a:prstGeom prst="ellipse">
            <a:avLst/>
          </a:prstGeom>
          <a:solidFill>
            <a:srgbClr val="FF4CC5"/>
          </a:solidFill>
          <a:ln>
            <a:noFill/>
          </a:ln>
          <a:effectLst>
            <a:glow rad="76200">
              <a:srgbClr val="FF4CC5">
                <a:alpha val="5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2999232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EAF0FB"/>
                </a:solidFill>
                <a:latin typeface="Inter"/>
              </a:rPr>
              <a:t>Frontends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3035808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4CC5"/>
                </a:solidFill>
                <a:latin typeface="Consolas"/>
              </a:rPr>
              <a:t>React · Vite — public + cockpit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78040" y="3017520"/>
            <a:ext cx="4434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9AA6C6"/>
                </a:solidFill>
                <a:latin typeface="Inter"/>
              </a:rPr>
              <a:t>Deux interfaces distinctes : utilisateur et administration.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51560" y="3712464"/>
            <a:ext cx="10515600" cy="12801"/>
          </a:xfrm>
          <a:prstGeom prst="rect">
            <a:avLst/>
          </a:prstGeom>
          <a:solidFill>
            <a:srgbClr val="20283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67512" y="4105656"/>
            <a:ext cx="164592" cy="164592"/>
          </a:xfrm>
          <a:prstGeom prst="ellipse">
            <a:avLst/>
          </a:prstGeom>
          <a:solidFill>
            <a:srgbClr val="A862FF"/>
          </a:solidFill>
          <a:ln>
            <a:noFill/>
          </a:ln>
          <a:effectLst>
            <a:glow rad="76200">
              <a:srgbClr val="A862FF">
                <a:alpha val="5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3986784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EAF0FB"/>
                </a:solidFill>
                <a:latin typeface="Inter"/>
              </a:rPr>
              <a:t>IA locale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402336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A862FF"/>
                </a:solidFill>
                <a:latin typeface="Consolas"/>
              </a:rPr>
              <a:t>Ollama · LLM auto-hébergés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78040" y="4005072"/>
            <a:ext cx="4434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9AA6C6"/>
                </a:solidFill>
                <a:latin typeface="Inter"/>
              </a:rPr>
              <a:t>Souveraineté des données, pas de dépendance cloud, coûts maîtrisés.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51560" y="4700016"/>
            <a:ext cx="10515600" cy="12801"/>
          </a:xfrm>
          <a:prstGeom prst="rect">
            <a:avLst/>
          </a:prstGeom>
          <a:solidFill>
            <a:srgbClr val="20283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67512" y="5093208"/>
            <a:ext cx="164592" cy="164592"/>
          </a:xfrm>
          <a:prstGeom prst="ellipse">
            <a:avLst/>
          </a:prstGeom>
          <a:solidFill>
            <a:srgbClr val="3FEE5C"/>
          </a:solidFill>
          <a:ln>
            <a:noFill/>
          </a:ln>
          <a:effectLst>
            <a:glow rad="76200">
              <a:srgbClr val="3FEE5C">
                <a:alpha val="5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51560" y="4974336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EAF0FB"/>
                </a:solidFill>
                <a:latin typeface="Inter"/>
              </a:rPr>
              <a:t>Déploiement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5010912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3FEE5C"/>
                </a:solidFill>
                <a:latin typeface="Consolas"/>
              </a:rPr>
              <a:t>Serveur Hetzner · Caddy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78040" y="4992624"/>
            <a:ext cx="4434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9AA6C6"/>
                </a:solidFill>
                <a:latin typeface="Inter"/>
              </a:rPr>
              <a:t>Reverse proxy + HTTPS automatique, mise en ligne sur bndrs.fr.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643737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29D8FF"/>
                </a:solidFill>
                <a:latin typeface="Inter"/>
              </a:rPr>
              <a:t>BNDRS</a:t>
            </a:r>
            <a:r>
              <a:rPr sz="1000" b="0" i="0">
                <a:solidFill>
                  <a:srgbClr val="59647F"/>
                </a:solidFill>
                <a:latin typeface="Inter"/>
              </a:rPr>
              <a:t>   ·   Soutenance de stage — DEV IA · Greta de Besançon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37215" y="6437376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9647F"/>
                </a:solidFill>
                <a:latin typeface="Inter"/>
              </a:rPr>
              <a:t>06</a:t>
            </a:r>
          </a:p>
        </p:txBody>
      </p:sp>
      <p:sp>
        <p:nvSpPr>
          <p:cNvPr id="28" name="Oval 27"/>
          <p:cNvSpPr/>
          <p:nvPr/>
        </p:nvSpPr>
        <p:spPr>
          <a:xfrm>
            <a:off x="11469319" y="6501384"/>
            <a:ext cx="91440" cy="91440"/>
          </a:xfrm>
          <a:prstGeom prst="ellipse">
            <a:avLst/>
          </a:prstGeom>
          <a:solidFill>
            <a:srgbClr val="29D8FF"/>
          </a:solidFill>
          <a:ln>
            <a:noFill/>
          </a:ln>
          <a:effectLst>
            <a:glow rad="76200">
              <a:srgbClr val="29D8FF">
                <a:alpha val="5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0608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767992" y="-2240279"/>
            <a:ext cx="15727680" cy="10241280"/>
          </a:xfrm>
          <a:prstGeom prst="ellipse">
            <a:avLst/>
          </a:prstGeom>
          <a:solidFill>
            <a:srgbClr val="0E1626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340967" y="-411480"/>
            <a:ext cx="9509760" cy="6583680"/>
          </a:xfrm>
          <a:prstGeom prst="ellipse">
            <a:avLst/>
          </a:prstGeom>
          <a:solidFill>
            <a:srgbClr val="121C30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475488"/>
            <a:ext cx="91440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 spc="180">
                <a:solidFill>
                  <a:srgbClr val="29D8FF"/>
                </a:solidFill>
                <a:latin typeface="Inter"/>
              </a:rPr>
              <a:t>ARCHITECTURE DU SYSTÈME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68096"/>
            <a:ext cx="109728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EAF0FB"/>
                </a:solidFill>
                <a:latin typeface="Inter"/>
              </a:rPr>
              <a:t>Vue d’ensemble technique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03320" y="2286000"/>
            <a:ext cx="7982712" cy="3657600"/>
          </a:xfrm>
          <a:prstGeom prst="roundRect">
            <a:avLst>
              <a:gd name="adj" fmla="val 4000"/>
            </a:avLst>
          </a:prstGeom>
          <a:noFill/>
          <a:ln w="12700">
            <a:solidFill>
              <a:srgbClr val="20283F">
                <a:alpha val="80000"/>
              </a:srgbClr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86200" y="2395728"/>
            <a:ext cx="5486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9D8FF"/>
                </a:solidFill>
                <a:latin typeface="Inter"/>
              </a:rPr>
              <a:t>SERVEUR HETZNER</a:t>
            </a:r>
            <a:r>
              <a:rPr sz="1050" b="0" i="0">
                <a:solidFill>
                  <a:srgbClr val="59647F"/>
                </a:solidFill>
                <a:latin typeface="Inter"/>
              </a:rPr>
              <a:t>   ·   déploiement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246120"/>
            <a:ext cx="2240280" cy="1371600"/>
          </a:xfrm>
          <a:prstGeom prst="roundRect">
            <a:avLst>
              <a:gd name="adj" fmla="val 8000"/>
            </a:avLst>
          </a:prstGeom>
          <a:solidFill>
            <a:srgbClr val="0B0F1C"/>
          </a:solidFill>
          <a:ln w="15875">
            <a:solidFill>
              <a:srgbClr val="2028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" y="3364991"/>
            <a:ext cx="194767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AF0FB"/>
                </a:solidFill>
                <a:latin typeface="Inter"/>
              </a:rPr>
              <a:t>Utilisateur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4251959"/>
            <a:ext cx="19476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9AA6C6"/>
                </a:solidFill>
                <a:latin typeface="Consolas"/>
              </a:rPr>
              <a:t>navigateur web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926080"/>
            <a:ext cx="2240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29D8FF"/>
                </a:solidFill>
                <a:latin typeface="Inter"/>
              </a:rPr>
              <a:t>◐  visiteur / admin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023360" y="3200400"/>
            <a:ext cx="1920240" cy="1417320"/>
          </a:xfrm>
          <a:prstGeom prst="roundRect">
            <a:avLst>
              <a:gd name="adj" fmla="val 8000"/>
            </a:avLst>
          </a:prstGeom>
          <a:solidFill>
            <a:srgbClr val="0B0F1C"/>
          </a:solidFill>
          <a:ln w="15875">
            <a:solidFill>
              <a:srgbClr val="29D8FF"/>
            </a:solidFill>
          </a:ln>
          <a:effectLst>
            <a:glow rad="76200">
              <a:srgbClr val="29D8FF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87952" y="3319272"/>
            <a:ext cx="162763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9D8FF"/>
                </a:solidFill>
                <a:latin typeface="Inter"/>
              </a:rPr>
              <a:t>Caddy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87952" y="4251959"/>
            <a:ext cx="162763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9AA6C6"/>
                </a:solidFill>
                <a:latin typeface="Consolas"/>
              </a:rPr>
              <a:t>reverse proxy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23360" y="3822191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29D8FF"/>
                </a:solidFill>
                <a:latin typeface="Consolas"/>
              </a:rPr>
              <a:t>HTTPS · bndrs.fr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27648" y="2697480"/>
            <a:ext cx="2240280" cy="914400"/>
          </a:xfrm>
          <a:prstGeom prst="roundRect">
            <a:avLst>
              <a:gd name="adj" fmla="val 8000"/>
            </a:avLst>
          </a:prstGeom>
          <a:solidFill>
            <a:srgbClr val="0B0F1C"/>
          </a:solidFill>
          <a:ln w="15875">
            <a:solidFill>
              <a:srgbClr val="FF4C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2816352"/>
            <a:ext cx="194767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AF0FB"/>
                </a:solidFill>
                <a:latin typeface="Inter"/>
              </a:rPr>
              <a:t>Frontend public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246120"/>
            <a:ext cx="19476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9AA6C6"/>
                </a:solidFill>
                <a:latin typeface="Consolas"/>
              </a:rPr>
              <a:t>React · Vite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27648" y="3749039"/>
            <a:ext cx="2240280" cy="914400"/>
          </a:xfrm>
          <a:prstGeom prst="roundRect">
            <a:avLst>
              <a:gd name="adj" fmla="val 8000"/>
            </a:avLst>
          </a:prstGeom>
          <a:solidFill>
            <a:srgbClr val="0B0F1C"/>
          </a:solidFill>
          <a:ln w="15875">
            <a:solidFill>
              <a:srgbClr val="FF4C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3867911"/>
            <a:ext cx="194767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AF0FB"/>
                </a:solidFill>
                <a:latin typeface="Inter"/>
              </a:rPr>
              <a:t>Frontend admin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4297679"/>
            <a:ext cx="19476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9AA6C6"/>
                </a:solidFill>
                <a:latin typeface="Consolas"/>
              </a:rPr>
              <a:t>cockpit React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15400" y="3200400"/>
            <a:ext cx="2331720" cy="1417320"/>
          </a:xfrm>
          <a:prstGeom prst="roundRect">
            <a:avLst>
              <a:gd name="adj" fmla="val 8000"/>
            </a:avLst>
          </a:prstGeom>
          <a:solidFill>
            <a:srgbClr val="0B0F1C"/>
          </a:solidFill>
          <a:ln w="15875">
            <a:solidFill>
              <a:srgbClr val="A862FF"/>
            </a:solidFill>
          </a:ln>
          <a:effectLst>
            <a:glow rad="76200">
              <a:srgbClr val="A862FF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79992" y="3319272"/>
            <a:ext cx="203911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A862FF"/>
                </a:solidFill>
                <a:latin typeface="Inter"/>
              </a:rPr>
              <a:t>Backend FastAPI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79992" y="4251959"/>
            <a:ext cx="203911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9AA6C6"/>
                </a:solidFill>
                <a:latin typeface="Consolas"/>
              </a:rPr>
              <a:t>API REST · Python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27648" y="4892040"/>
            <a:ext cx="2240280" cy="841248"/>
          </a:xfrm>
          <a:prstGeom prst="roundRect">
            <a:avLst>
              <a:gd name="adj" fmla="val 8000"/>
            </a:avLst>
          </a:prstGeom>
          <a:solidFill>
            <a:srgbClr val="0B0F1C"/>
          </a:solidFill>
          <a:ln w="15875">
            <a:solidFill>
              <a:srgbClr val="2028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92240" y="5010912"/>
            <a:ext cx="194767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AF0FB"/>
                </a:solidFill>
                <a:latin typeface="Inter"/>
              </a:rPr>
              <a:t>SQLite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5367527"/>
            <a:ext cx="19476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9AA6C6"/>
                </a:solidFill>
                <a:latin typeface="Consolas"/>
              </a:rPr>
              <a:t>données / sessions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915400" y="4892040"/>
            <a:ext cx="2331720" cy="841248"/>
          </a:xfrm>
          <a:prstGeom prst="roundRect">
            <a:avLst>
              <a:gd name="adj" fmla="val 8000"/>
            </a:avLst>
          </a:prstGeom>
          <a:solidFill>
            <a:srgbClr val="0B0F1C"/>
          </a:solidFill>
          <a:ln w="15875">
            <a:solidFill>
              <a:srgbClr val="3FEE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79992" y="5010912"/>
            <a:ext cx="203911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3FEE5C"/>
                </a:solidFill>
                <a:latin typeface="Inter"/>
              </a:rPr>
              <a:t>Ollama — LLM local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79992" y="5367527"/>
            <a:ext cx="203911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9AA6C6"/>
                </a:solidFill>
                <a:latin typeface="Consolas"/>
              </a:rPr>
              <a:t>inférence IA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2788920" y="3822191"/>
            <a:ext cx="1143000" cy="128016"/>
          </a:xfrm>
          <a:prstGeom prst="rightArrow">
            <a:avLst/>
          </a:prstGeom>
          <a:solidFill>
            <a:srgbClr val="29D8F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ight Arrow 32"/>
          <p:cNvSpPr/>
          <p:nvPr/>
        </p:nvSpPr>
        <p:spPr>
          <a:xfrm>
            <a:off x="5989320" y="3822191"/>
            <a:ext cx="274320" cy="128016"/>
          </a:xfrm>
          <a:prstGeom prst="rightArrow">
            <a:avLst/>
          </a:prstGeom>
          <a:solidFill>
            <a:srgbClr val="29D8F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ight Arrow 33"/>
          <p:cNvSpPr/>
          <p:nvPr/>
        </p:nvSpPr>
        <p:spPr>
          <a:xfrm>
            <a:off x="8613648" y="3822191"/>
            <a:ext cx="246888" cy="128016"/>
          </a:xfrm>
          <a:prstGeom prst="rightArrow">
            <a:avLst/>
          </a:prstGeom>
          <a:solidFill>
            <a:srgbClr val="29D8F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388352" y="4736592"/>
            <a:ext cx="2688336" cy="27432"/>
          </a:xfrm>
          <a:prstGeom prst="rect">
            <a:avLst/>
          </a:prstGeom>
          <a:solidFill>
            <a:srgbClr val="A862FF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own Arrow 35"/>
          <p:cNvSpPr/>
          <p:nvPr/>
        </p:nvSpPr>
        <p:spPr>
          <a:xfrm>
            <a:off x="10021824" y="4608576"/>
            <a:ext cx="109728" cy="164592"/>
          </a:xfrm>
          <a:prstGeom prst="downArrow">
            <a:avLst/>
          </a:prstGeom>
          <a:solidFill>
            <a:srgbClr val="A862F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Down Arrow 36"/>
          <p:cNvSpPr/>
          <p:nvPr/>
        </p:nvSpPr>
        <p:spPr>
          <a:xfrm>
            <a:off x="7388352" y="4745736"/>
            <a:ext cx="109728" cy="182880"/>
          </a:xfrm>
          <a:prstGeom prst="downArrow">
            <a:avLst/>
          </a:prstGeom>
          <a:solidFill>
            <a:srgbClr val="A862F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Down Arrow 37"/>
          <p:cNvSpPr/>
          <p:nvPr/>
        </p:nvSpPr>
        <p:spPr>
          <a:xfrm>
            <a:off x="10021824" y="4745736"/>
            <a:ext cx="109728" cy="182880"/>
          </a:xfrm>
          <a:prstGeom prst="downArrow">
            <a:avLst/>
          </a:prstGeom>
          <a:solidFill>
            <a:srgbClr val="3FEE5C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6928" y="6071616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29D8FF"/>
                </a:solidFill>
                <a:latin typeface="Inter"/>
              </a:rPr>
              <a:t>Flux  </a:t>
            </a:r>
            <a:r>
              <a:rPr sz="1050" b="0" i="0">
                <a:solidFill>
                  <a:srgbClr val="9AA6C6"/>
                </a:solidFill>
                <a:latin typeface="Inter"/>
              </a:rPr>
              <a:t>l’utilisateur passe par Caddy (HTTPS) → frontends React → API FastAPI, qui orchestre SQLite et les modèles Ollama en local.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643737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29D8FF"/>
                </a:solidFill>
                <a:latin typeface="Inter"/>
              </a:rPr>
              <a:t>BNDRS</a:t>
            </a:r>
            <a:r>
              <a:rPr sz="1000" b="0" i="0">
                <a:solidFill>
                  <a:srgbClr val="59647F"/>
                </a:solidFill>
                <a:latin typeface="Inter"/>
              </a:rPr>
              <a:t>   ·   Soutenance de stage — DEV IA · Greta de Besançon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637215" y="6437376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9647F"/>
                </a:solidFill>
                <a:latin typeface="Inter"/>
              </a:rPr>
              <a:t>07</a:t>
            </a:r>
          </a:p>
        </p:txBody>
      </p:sp>
      <p:sp>
        <p:nvSpPr>
          <p:cNvPr id="42" name="Oval 41"/>
          <p:cNvSpPr/>
          <p:nvPr/>
        </p:nvSpPr>
        <p:spPr>
          <a:xfrm>
            <a:off x="11469319" y="6501384"/>
            <a:ext cx="91440" cy="91440"/>
          </a:xfrm>
          <a:prstGeom prst="ellipse">
            <a:avLst/>
          </a:prstGeom>
          <a:solidFill>
            <a:srgbClr val="29D8FF"/>
          </a:solidFill>
          <a:ln>
            <a:noFill/>
          </a:ln>
          <a:effectLst>
            <a:glow rad="76200">
              <a:srgbClr val="29D8FF">
                <a:alpha val="5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0608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767992" y="-2240279"/>
            <a:ext cx="15727680" cy="10241280"/>
          </a:xfrm>
          <a:prstGeom prst="ellipse">
            <a:avLst/>
          </a:prstGeom>
          <a:solidFill>
            <a:srgbClr val="0E1626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340967" y="-411480"/>
            <a:ext cx="9509760" cy="6583680"/>
          </a:xfrm>
          <a:prstGeom prst="ellipse">
            <a:avLst/>
          </a:prstGeom>
          <a:solidFill>
            <a:srgbClr val="121C30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475488"/>
            <a:ext cx="91440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 spc="180">
                <a:solidFill>
                  <a:srgbClr val="29D8FF"/>
                </a:solidFill>
                <a:latin typeface="Inter"/>
              </a:rPr>
              <a:t>LE CONCEPT AION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68096"/>
            <a:ext cx="109728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EAF0FB"/>
                </a:solidFill>
                <a:latin typeface="Inter"/>
              </a:rPr>
              <a:t>Signaler → Explorer → Décider</a:t>
            </a:r>
          </a:p>
        </p:txBody>
      </p:sp>
      <p:sp>
        <p:nvSpPr>
          <p:cNvPr id="7" name="Oval 6"/>
          <p:cNvSpPr/>
          <p:nvPr/>
        </p:nvSpPr>
        <p:spPr>
          <a:xfrm>
            <a:off x="8472830" y="2483510"/>
            <a:ext cx="3171139" cy="3171139"/>
          </a:xfrm>
          <a:prstGeom prst="ellipse">
            <a:avLst/>
          </a:prstGeom>
          <a:solidFill>
            <a:srgbClr val="0A0F1E"/>
          </a:solidFill>
          <a:ln>
            <a:noFill/>
          </a:ln>
          <a:effectLst>
            <a:glow rad="88900">
              <a:srgbClr val="29D8FF">
                <a:alpha val="5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503920" y="2514600"/>
            <a:ext cx="3108960" cy="3108960"/>
          </a:xfrm>
          <a:prstGeom prst="ellipse">
            <a:avLst/>
          </a:prstGeom>
          <a:solidFill>
            <a:srgbClr val="070B16"/>
          </a:solidFill>
          <a:ln w="12700">
            <a:solidFill>
              <a:srgbClr val="29D8FF">
                <a:alpha val="2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597188" y="2514600"/>
            <a:ext cx="1865376" cy="1865376"/>
          </a:xfrm>
          <a:prstGeom prst="ellipse">
            <a:avLst/>
          </a:prstGeom>
          <a:solidFill>
            <a:srgbClr val="172446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566099" y="3571646"/>
            <a:ext cx="2984601" cy="994867"/>
          </a:xfrm>
          <a:prstGeom prst="ellipse">
            <a:avLst/>
          </a:prstGeom>
          <a:noFill/>
          <a:ln w="9525">
            <a:solidFill>
              <a:srgbClr val="29D8FF">
                <a:alpha val="1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529876" y="2576779"/>
            <a:ext cx="1057046" cy="2984601"/>
          </a:xfrm>
          <a:prstGeom prst="ellipse">
            <a:avLst/>
          </a:prstGeom>
          <a:noFill/>
          <a:ln w="9525">
            <a:solidFill>
              <a:srgbClr val="29D8FF">
                <a:alpha val="1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 rot="1440000">
            <a:off x="8721547" y="3291840"/>
            <a:ext cx="2673705" cy="1554480"/>
          </a:xfrm>
          <a:prstGeom prst="ellipse">
            <a:avLst/>
          </a:prstGeom>
          <a:noFill/>
          <a:ln w="9525">
            <a:solidFill>
              <a:srgbClr val="29D8FF">
                <a:alpha val="9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617704" y="2944413"/>
            <a:ext cx="881390" cy="881390"/>
          </a:xfrm>
          <a:prstGeom prst="ellipse">
            <a:avLst/>
          </a:prstGeom>
          <a:solidFill>
            <a:srgbClr val="29D8FF"/>
          </a:solidFill>
          <a:ln>
            <a:noFill/>
          </a:ln>
          <a:effectLst>
            <a:glow rad="88900">
              <a:srgbClr val="29D8FF">
                <a:alpha val="5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638690" y="2965399"/>
            <a:ext cx="839419" cy="839419"/>
          </a:xfrm>
          <a:prstGeom prst="ellipse">
            <a:avLst/>
          </a:prstGeom>
          <a:solidFill>
            <a:srgbClr val="29D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806574" y="3158465"/>
            <a:ext cx="251825" cy="167883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995912" y="4156908"/>
            <a:ext cx="881390" cy="881390"/>
          </a:xfrm>
          <a:prstGeom prst="ellipse">
            <a:avLst/>
          </a:prstGeom>
          <a:solidFill>
            <a:srgbClr val="FF4CC5"/>
          </a:solidFill>
          <a:ln>
            <a:noFill/>
          </a:ln>
          <a:effectLst>
            <a:glow rad="88900">
              <a:srgbClr val="FF4CC5">
                <a:alpha val="5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016898" y="4177893"/>
            <a:ext cx="839419" cy="839419"/>
          </a:xfrm>
          <a:prstGeom prst="ellipse">
            <a:avLst/>
          </a:prstGeom>
          <a:solidFill>
            <a:srgbClr val="FF4C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184782" y="4370960"/>
            <a:ext cx="251825" cy="167883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239496" y="4156908"/>
            <a:ext cx="881390" cy="881390"/>
          </a:xfrm>
          <a:prstGeom prst="ellipse">
            <a:avLst/>
          </a:prstGeom>
          <a:solidFill>
            <a:srgbClr val="3FEE5C"/>
          </a:solidFill>
          <a:ln>
            <a:noFill/>
          </a:ln>
          <a:effectLst>
            <a:glow rad="88900">
              <a:srgbClr val="3FEE5C">
                <a:alpha val="5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260482" y="4177893"/>
            <a:ext cx="839419" cy="839419"/>
          </a:xfrm>
          <a:prstGeom prst="ellipse">
            <a:avLst/>
          </a:prstGeom>
          <a:solidFill>
            <a:srgbClr val="3FE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428366" y="4370960"/>
            <a:ext cx="251825" cy="167883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1664208"/>
            <a:ext cx="7680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9AA6C6"/>
                </a:solidFill>
                <a:latin typeface="Inter"/>
              </a:rPr>
              <a:t>La </a:t>
            </a:r>
            <a:r>
              <a:rPr sz="1350" b="1" i="0">
                <a:solidFill>
                  <a:srgbClr val="29D8FF"/>
                </a:solidFill>
                <a:latin typeface="Inter"/>
              </a:rPr>
              <a:t>sphère AION</a:t>
            </a:r>
            <a:r>
              <a:rPr sz="1350" b="0" i="0">
                <a:solidFill>
                  <a:srgbClr val="9AA6C6"/>
                </a:solidFill>
                <a:latin typeface="Inter"/>
              </a:rPr>
              <a:t> est l’unique objet visuel de l’app : identité, mémoire d’analyse et carte des tensions. La lumière = activité analytique, jamais une vérité.</a:t>
            </a:r>
          </a:p>
        </p:txBody>
      </p:sp>
      <p:sp>
        <p:nvSpPr>
          <p:cNvPr id="23" name="Oval 22"/>
          <p:cNvSpPr/>
          <p:nvPr/>
        </p:nvSpPr>
        <p:spPr>
          <a:xfrm>
            <a:off x="649224" y="2816352"/>
            <a:ext cx="621792" cy="621792"/>
          </a:xfrm>
          <a:prstGeom prst="ellipse">
            <a:avLst/>
          </a:prstGeom>
          <a:solidFill>
            <a:srgbClr val="0B0F1C"/>
          </a:solidFill>
          <a:ln w="22225">
            <a:solidFill>
              <a:srgbClr val="29D8FF"/>
            </a:solidFill>
          </a:ln>
          <a:effectLst>
            <a:glow rad="76200">
              <a:srgbClr val="29D8FF">
                <a:alpha val="5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4" y="2816352"/>
            <a:ext cx="621792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29D8FF"/>
                </a:solidFill>
                <a:latin typeface="Inter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1328" y="2798064"/>
            <a:ext cx="21031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EAF0FB"/>
                </a:solidFill>
                <a:latin typeface="Inter"/>
              </a:rPr>
              <a:t>Signaler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20440" y="2779776"/>
            <a:ext cx="48463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9AA6C6"/>
                </a:solidFill>
                <a:latin typeface="Inter"/>
              </a:rPr>
              <a:t>BNDRS montre : émotions dominantes, narration, cadrage, omissions potentielles, signaux d’influence.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481328" y="3584448"/>
            <a:ext cx="6858000" cy="12801"/>
          </a:xfrm>
          <a:prstGeom prst="rect">
            <a:avLst/>
          </a:prstGeom>
          <a:solidFill>
            <a:srgbClr val="20283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49224" y="3877056"/>
            <a:ext cx="621792" cy="621792"/>
          </a:xfrm>
          <a:prstGeom prst="ellipse">
            <a:avLst/>
          </a:prstGeom>
          <a:solidFill>
            <a:srgbClr val="0B0F1C"/>
          </a:solidFill>
          <a:ln w="22225">
            <a:solidFill>
              <a:srgbClr val="FF4CC5"/>
            </a:solidFill>
          </a:ln>
          <a:effectLst>
            <a:glow rad="76200">
              <a:srgbClr val="FF4CC5">
                <a:alpha val="5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" y="3877056"/>
            <a:ext cx="621792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FF4CC5"/>
                </a:solidFill>
                <a:latin typeface="Inter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81328" y="3858768"/>
            <a:ext cx="21031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EAF0FB"/>
                </a:solidFill>
                <a:latin typeface="Inter"/>
              </a:rPr>
              <a:t>Explorer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20440" y="3840480"/>
            <a:ext cx="48463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9AA6C6"/>
                </a:solidFill>
                <a:latin typeface="Inter"/>
              </a:rPr>
              <a:t>Optionnel — si l’utilisateur veut creuser : contextualisation, comparaison de sources, contrepoints.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481328" y="4645152"/>
            <a:ext cx="6858000" cy="12801"/>
          </a:xfrm>
          <a:prstGeom prst="rect">
            <a:avLst/>
          </a:prstGeom>
          <a:solidFill>
            <a:srgbClr val="20283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49224" y="4937760"/>
            <a:ext cx="621792" cy="621792"/>
          </a:xfrm>
          <a:prstGeom prst="ellipse">
            <a:avLst/>
          </a:prstGeom>
          <a:solidFill>
            <a:srgbClr val="0B0F1C"/>
          </a:solidFill>
          <a:ln w="22225">
            <a:solidFill>
              <a:srgbClr val="3FEE5C"/>
            </a:solidFill>
          </a:ln>
          <a:effectLst>
            <a:glow rad="76200">
              <a:srgbClr val="3FEE5C">
                <a:alpha val="5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9224" y="4937760"/>
            <a:ext cx="621792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3FEE5C"/>
                </a:solidFill>
                <a:latin typeface="Inter"/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81328" y="4919472"/>
            <a:ext cx="21031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EAF0FB"/>
                </a:solidFill>
                <a:latin typeface="Inter"/>
              </a:rPr>
              <a:t>Décider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0440" y="4901184"/>
            <a:ext cx="48463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9AA6C6"/>
                </a:solidFill>
                <a:latin typeface="Inter"/>
              </a:rPr>
              <a:t>Toujours côté utilisateur : ignorer, approfondir, partager, archiver. BNDRS ne décide jamais à sa place.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" y="643737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29D8FF"/>
                </a:solidFill>
                <a:latin typeface="Inter"/>
              </a:rPr>
              <a:t>BNDRS</a:t>
            </a:r>
            <a:r>
              <a:rPr sz="1000" b="0" i="0">
                <a:solidFill>
                  <a:srgbClr val="59647F"/>
                </a:solidFill>
                <a:latin typeface="Inter"/>
              </a:rPr>
              <a:t>   ·   Soutenance de stage — DEV IA · Greta de Besançon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37215" y="6437376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9647F"/>
                </a:solidFill>
                <a:latin typeface="Inter"/>
              </a:rPr>
              <a:t>08</a:t>
            </a:r>
          </a:p>
        </p:txBody>
      </p:sp>
      <p:sp>
        <p:nvSpPr>
          <p:cNvPr id="39" name="Oval 38"/>
          <p:cNvSpPr/>
          <p:nvPr/>
        </p:nvSpPr>
        <p:spPr>
          <a:xfrm>
            <a:off x="11469319" y="6501384"/>
            <a:ext cx="91440" cy="91440"/>
          </a:xfrm>
          <a:prstGeom prst="ellipse">
            <a:avLst/>
          </a:prstGeom>
          <a:solidFill>
            <a:srgbClr val="29D8FF"/>
          </a:solidFill>
          <a:ln>
            <a:noFill/>
          </a:ln>
          <a:effectLst>
            <a:glow rad="76200">
              <a:srgbClr val="29D8FF">
                <a:alpha val="5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0608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767992" y="-2240279"/>
            <a:ext cx="15727680" cy="10241280"/>
          </a:xfrm>
          <a:prstGeom prst="ellipse">
            <a:avLst/>
          </a:prstGeom>
          <a:solidFill>
            <a:srgbClr val="0E1626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340967" y="-411480"/>
            <a:ext cx="9509760" cy="6583680"/>
          </a:xfrm>
          <a:prstGeom prst="ellipse">
            <a:avLst/>
          </a:prstGeom>
          <a:solidFill>
            <a:srgbClr val="121C30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475488"/>
            <a:ext cx="91440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 spc="180">
                <a:solidFill>
                  <a:srgbClr val="29D8FF"/>
                </a:solidFill>
                <a:latin typeface="Inter"/>
              </a:rPr>
              <a:t>MISE EN ŒUVRE &amp; GESTION DE PROJET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68096"/>
            <a:ext cx="109728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EAF0FB"/>
                </a:solidFill>
                <a:latin typeface="Inter"/>
              </a:rPr>
              <a:t>Le parcours du stage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9D8FF"/>
                </a:solidFill>
                <a:latin typeface="Inter"/>
              </a:rPr>
              <a:t>Méthode  </a:t>
            </a:r>
            <a:r>
              <a:rPr sz="1250" b="0" i="0">
                <a:solidFill>
                  <a:srgbClr val="9AA6C6"/>
                </a:solidFill>
                <a:latin typeface="Inter"/>
              </a:rPr>
              <a:t>itérative, 100% distancielle (Discord), avec des sessions techniques régulières et de la veille continue.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19" y="2788920"/>
            <a:ext cx="10789920" cy="18288"/>
          </a:xfrm>
          <a:prstGeom prst="rect">
            <a:avLst/>
          </a:prstGeom>
          <a:solidFill>
            <a:srgbClr val="20283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536192" y="2697479"/>
            <a:ext cx="201168" cy="201168"/>
          </a:xfrm>
          <a:prstGeom prst="ellipse">
            <a:avLst/>
          </a:prstGeom>
          <a:solidFill>
            <a:srgbClr val="29D8FF"/>
          </a:solidFill>
          <a:ln>
            <a:noFill/>
          </a:ln>
          <a:effectLst>
            <a:glow rad="76200">
              <a:srgbClr val="29D8FF">
                <a:alpha val="5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920239"/>
            <a:ext cx="217627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29D8FF"/>
                </a:solidFill>
                <a:latin typeface="Inter"/>
              </a:rPr>
              <a:t>Computer Vision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200400"/>
            <a:ext cx="1993392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AA6C6"/>
                </a:solidFill>
                <a:latin typeface="Inter"/>
              </a:rPr>
              <a:t>Démarrage avec Jimmy : détection, YOLO, mains/pieds — prise en main des outils.</a:t>
            </a:r>
          </a:p>
        </p:txBody>
      </p:sp>
      <p:sp>
        <p:nvSpPr>
          <p:cNvPr id="12" name="Oval 11"/>
          <p:cNvSpPr/>
          <p:nvPr/>
        </p:nvSpPr>
        <p:spPr>
          <a:xfrm>
            <a:off x="3781044" y="2697479"/>
            <a:ext cx="201168" cy="201168"/>
          </a:xfrm>
          <a:prstGeom prst="ellipse">
            <a:avLst/>
          </a:prstGeom>
          <a:solidFill>
            <a:srgbClr val="FF4CC5"/>
          </a:solidFill>
          <a:ln>
            <a:noFill/>
          </a:ln>
          <a:effectLst>
            <a:glow rad="76200">
              <a:srgbClr val="FF4CC5">
                <a:alpha val="5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93492" y="1920239"/>
            <a:ext cx="217627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FF4CC5"/>
                </a:solidFill>
                <a:latin typeface="Inter"/>
              </a:rPr>
              <a:t>Prompt engineering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4932" y="3200400"/>
            <a:ext cx="1993392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AA6C6"/>
                </a:solidFill>
                <a:latin typeface="Inter"/>
              </a:rPr>
              <a:t>Cadrage des LLM, premiers chatbots avec Ollama en local.</a:t>
            </a:r>
          </a:p>
        </p:txBody>
      </p:sp>
      <p:sp>
        <p:nvSpPr>
          <p:cNvPr id="15" name="Oval 14"/>
          <p:cNvSpPr/>
          <p:nvPr/>
        </p:nvSpPr>
        <p:spPr>
          <a:xfrm>
            <a:off x="6025896" y="2697479"/>
            <a:ext cx="201168" cy="201168"/>
          </a:xfrm>
          <a:prstGeom prst="ellipse">
            <a:avLst/>
          </a:prstGeom>
          <a:solidFill>
            <a:srgbClr val="A862FF"/>
          </a:solidFill>
          <a:ln>
            <a:noFill/>
          </a:ln>
          <a:effectLst>
            <a:glow rad="76200">
              <a:srgbClr val="A862FF">
                <a:alpha val="5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38344" y="1920239"/>
            <a:ext cx="217627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A862FF"/>
                </a:solidFill>
                <a:latin typeface="Inter"/>
              </a:rPr>
              <a:t>API &amp; interface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9784" y="3200400"/>
            <a:ext cx="1993392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AA6C6"/>
                </a:solidFill>
                <a:latin typeface="Inter"/>
              </a:rPr>
              <a:t>Backend FastAPI + frontend, comptes utilisateurs, appels API sécurisés.</a:t>
            </a:r>
          </a:p>
        </p:txBody>
      </p:sp>
      <p:sp>
        <p:nvSpPr>
          <p:cNvPr id="18" name="Oval 17"/>
          <p:cNvSpPr/>
          <p:nvPr/>
        </p:nvSpPr>
        <p:spPr>
          <a:xfrm>
            <a:off x="8270748" y="2697479"/>
            <a:ext cx="201168" cy="201168"/>
          </a:xfrm>
          <a:prstGeom prst="ellipse">
            <a:avLst/>
          </a:prstGeom>
          <a:solidFill>
            <a:srgbClr val="FF9621"/>
          </a:solidFill>
          <a:ln>
            <a:noFill/>
          </a:ln>
          <a:effectLst>
            <a:glow rad="76200">
              <a:srgbClr val="FF9621">
                <a:alpha val="5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83196" y="1920239"/>
            <a:ext cx="217627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FF9621"/>
                </a:solidFill>
                <a:latin typeface="Inter"/>
              </a:rPr>
              <a:t>Agents N8N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74636" y="3200400"/>
            <a:ext cx="1993392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AA6C6"/>
                </a:solidFill>
                <a:latin typeface="Inter"/>
              </a:rPr>
              <a:t>Workflows, tools, notion de MCP — orchestration de l’IA.</a:t>
            </a:r>
          </a:p>
        </p:txBody>
      </p:sp>
      <p:sp>
        <p:nvSpPr>
          <p:cNvPr id="21" name="Oval 20"/>
          <p:cNvSpPr/>
          <p:nvPr/>
        </p:nvSpPr>
        <p:spPr>
          <a:xfrm>
            <a:off x="10515600" y="2697479"/>
            <a:ext cx="201168" cy="201168"/>
          </a:xfrm>
          <a:prstGeom prst="ellipse">
            <a:avLst/>
          </a:prstGeom>
          <a:solidFill>
            <a:srgbClr val="3FEE5C"/>
          </a:solidFill>
          <a:ln>
            <a:noFill/>
          </a:ln>
          <a:effectLst>
            <a:glow rad="76200">
              <a:srgbClr val="3FEE5C">
                <a:alpha val="5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528048" y="1920239"/>
            <a:ext cx="217627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3FEE5C"/>
                </a:solidFill>
                <a:latin typeface="Inter"/>
              </a:rPr>
              <a:t>Déploiement BNDRS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19488" y="3200400"/>
            <a:ext cx="1993392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AA6C6"/>
                </a:solidFill>
                <a:latin typeface="Inter"/>
              </a:rPr>
              <a:t>Nom de domaine, Caddy, serveur Hetzner — mise en ligne de bndrs.fr.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9436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1">
                <a:solidFill>
                  <a:srgbClr val="9AA6C6"/>
                </a:solidFill>
                <a:latin typeface="Inter"/>
              </a:rPr>
              <a:t>Tout ce qui a été appris a immédiatement nourri BNDRS : </a:t>
            </a:r>
            <a:r>
              <a:rPr sz="1150" b="1" i="1">
                <a:solidFill>
                  <a:srgbClr val="EAF0FB"/>
                </a:solidFill>
                <a:latin typeface="Inter"/>
              </a:rPr>
              <a:t>le stage et le projet ont avancé ensemble.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643737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29D8FF"/>
                </a:solidFill>
                <a:latin typeface="Inter"/>
              </a:rPr>
              <a:t>BNDRS</a:t>
            </a:r>
            <a:r>
              <a:rPr sz="1000" b="0" i="0">
                <a:solidFill>
                  <a:srgbClr val="59647F"/>
                </a:solidFill>
                <a:latin typeface="Inter"/>
              </a:rPr>
              <a:t>   ·   Soutenance de stage — DEV IA · Greta de Besançon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37215" y="6437376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9647F"/>
                </a:solidFill>
                <a:latin typeface="Inter"/>
              </a:rPr>
              <a:t>09</a:t>
            </a:r>
          </a:p>
        </p:txBody>
      </p:sp>
      <p:sp>
        <p:nvSpPr>
          <p:cNvPr id="27" name="Oval 26"/>
          <p:cNvSpPr/>
          <p:nvPr/>
        </p:nvSpPr>
        <p:spPr>
          <a:xfrm>
            <a:off x="11469319" y="6501384"/>
            <a:ext cx="91440" cy="91440"/>
          </a:xfrm>
          <a:prstGeom prst="ellipse">
            <a:avLst/>
          </a:prstGeom>
          <a:solidFill>
            <a:srgbClr val="29D8FF"/>
          </a:solidFill>
          <a:ln>
            <a:noFill/>
          </a:ln>
          <a:effectLst>
            <a:glow rad="76200">
              <a:srgbClr val="29D8FF">
                <a:alpha val="5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0608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767992" y="-2240279"/>
            <a:ext cx="15727680" cy="10241280"/>
          </a:xfrm>
          <a:prstGeom prst="ellipse">
            <a:avLst/>
          </a:prstGeom>
          <a:solidFill>
            <a:srgbClr val="0E1626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340967" y="-411480"/>
            <a:ext cx="9509760" cy="6583680"/>
          </a:xfrm>
          <a:prstGeom prst="ellipse">
            <a:avLst/>
          </a:prstGeom>
          <a:solidFill>
            <a:srgbClr val="121C30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475488"/>
            <a:ext cx="91440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 spc="180">
                <a:solidFill>
                  <a:srgbClr val="29D8FF"/>
                </a:solidFill>
                <a:latin typeface="Inter"/>
              </a:rPr>
              <a:t>COMPÉTENCES &amp; RETOURS D’EXPÉRIENCE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68096"/>
            <a:ext cx="109728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EAF0FB"/>
                </a:solidFill>
                <a:latin typeface="Inter"/>
              </a:rPr>
              <a:t>Un cycle complet de développement IA</a:t>
            </a:r>
          </a:p>
        </p:txBody>
      </p:sp>
      <p:sp>
        <p:nvSpPr>
          <p:cNvPr id="7" name="Oval 6"/>
          <p:cNvSpPr/>
          <p:nvPr/>
        </p:nvSpPr>
        <p:spPr>
          <a:xfrm>
            <a:off x="576072" y="2103120"/>
            <a:ext cx="164592" cy="164592"/>
          </a:xfrm>
          <a:prstGeom prst="ellipse">
            <a:avLst/>
          </a:prstGeom>
          <a:solidFill>
            <a:srgbClr val="29D8FF"/>
          </a:solidFill>
          <a:ln>
            <a:noFill/>
          </a:ln>
          <a:effectLst>
            <a:glow rad="76200">
              <a:srgbClr val="29D8FF">
                <a:alpha val="5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05740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AF0FB"/>
                </a:solidFill>
                <a:latin typeface="Inter"/>
              </a:rPr>
              <a:t>Conception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423160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AA6C6"/>
                </a:solidFill>
                <a:latin typeface="Inter"/>
              </a:rPr>
              <a:t>Analyse du besoin, état de l’art, architecture modulaire.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935224"/>
            <a:ext cx="5120640" cy="12801"/>
          </a:xfrm>
          <a:prstGeom prst="rect">
            <a:avLst/>
          </a:prstGeom>
          <a:solidFill>
            <a:srgbClr val="20283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611112" y="2103120"/>
            <a:ext cx="164592" cy="164592"/>
          </a:xfrm>
          <a:prstGeom prst="ellipse">
            <a:avLst/>
          </a:prstGeom>
          <a:solidFill>
            <a:srgbClr val="FF4CC5"/>
          </a:solidFill>
          <a:ln>
            <a:noFill/>
          </a:ln>
          <a:effectLst>
            <a:glow rad="76200">
              <a:srgbClr val="FF4CC5">
                <a:alpha val="5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67728" y="205740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AF0FB"/>
                </a:solidFill>
                <a:latin typeface="Inter"/>
              </a:rPr>
              <a:t>Back-end &amp; API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67728" y="2423160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AA6C6"/>
                </a:solidFill>
                <a:latin typeface="Inter"/>
              </a:rPr>
              <a:t>FastAPI, SQLite, endpoints REST, authentification / sessions.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67728" y="2935224"/>
            <a:ext cx="5120640" cy="12801"/>
          </a:xfrm>
          <a:prstGeom prst="rect">
            <a:avLst/>
          </a:prstGeom>
          <a:solidFill>
            <a:srgbClr val="20283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76072" y="3127248"/>
            <a:ext cx="164592" cy="164592"/>
          </a:xfrm>
          <a:prstGeom prst="ellipse">
            <a:avLst/>
          </a:prstGeom>
          <a:solidFill>
            <a:srgbClr val="A862FF"/>
          </a:solidFill>
          <a:ln>
            <a:noFill/>
          </a:ln>
          <a:effectLst>
            <a:glow rad="76200">
              <a:srgbClr val="A862FF">
                <a:alpha val="5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3081528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AF0FB"/>
                </a:solidFill>
                <a:latin typeface="Inter"/>
              </a:rPr>
              <a:t>Front-end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" y="3447288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AA6C6"/>
                </a:solidFill>
                <a:latin typeface="Inter"/>
              </a:rPr>
              <a:t>React / Vite, deux interfaces, appels API.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959352"/>
            <a:ext cx="5120640" cy="12801"/>
          </a:xfrm>
          <a:prstGeom prst="rect">
            <a:avLst/>
          </a:prstGeom>
          <a:solidFill>
            <a:srgbClr val="20283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611112" y="3127248"/>
            <a:ext cx="164592" cy="164592"/>
          </a:xfrm>
          <a:prstGeom prst="ellipse">
            <a:avLst/>
          </a:prstGeom>
          <a:solidFill>
            <a:srgbClr val="3FEE5C"/>
          </a:solidFill>
          <a:ln>
            <a:noFill/>
          </a:ln>
          <a:effectLst>
            <a:glow rad="76200">
              <a:srgbClr val="3FEE5C">
                <a:alpha val="5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67728" y="3081528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AF0FB"/>
                </a:solidFill>
                <a:latin typeface="Inter"/>
              </a:rPr>
              <a:t>IA &amp; LLM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67728" y="3447288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AA6C6"/>
                </a:solidFill>
                <a:latin typeface="Inter"/>
              </a:rPr>
              <a:t>Ollama local, prompt engineering, paramétrage des modèles.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67728" y="3959352"/>
            <a:ext cx="5120640" cy="12801"/>
          </a:xfrm>
          <a:prstGeom prst="rect">
            <a:avLst/>
          </a:prstGeom>
          <a:solidFill>
            <a:srgbClr val="20283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76072" y="4151376"/>
            <a:ext cx="164592" cy="164592"/>
          </a:xfrm>
          <a:prstGeom prst="ellipse">
            <a:avLst/>
          </a:prstGeom>
          <a:solidFill>
            <a:srgbClr val="FF9621"/>
          </a:solidFill>
          <a:ln>
            <a:noFill/>
          </a:ln>
          <a:effectLst>
            <a:glow rad="76200">
              <a:srgbClr val="FF9621">
                <a:alpha val="5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" y="4105656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AF0FB"/>
                </a:solidFill>
                <a:latin typeface="Inter"/>
              </a:rPr>
              <a:t>Computer Vision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" y="4471416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AA6C6"/>
                </a:solidFill>
                <a:latin typeface="Inter"/>
              </a:rPr>
              <a:t>YOLO, OpenCV, détection d’objets.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32688" y="4983480"/>
            <a:ext cx="5120640" cy="12801"/>
          </a:xfrm>
          <a:prstGeom prst="rect">
            <a:avLst/>
          </a:prstGeom>
          <a:solidFill>
            <a:srgbClr val="20283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611112" y="4151376"/>
            <a:ext cx="164592" cy="164592"/>
          </a:xfrm>
          <a:prstGeom prst="ellipse">
            <a:avLst/>
          </a:prstGeom>
          <a:solidFill>
            <a:srgbClr val="25F2C2"/>
          </a:solidFill>
          <a:ln>
            <a:noFill/>
          </a:ln>
          <a:effectLst>
            <a:glow rad="76200">
              <a:srgbClr val="25F2C2">
                <a:alpha val="5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67728" y="4105656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AF0FB"/>
                </a:solidFill>
                <a:latin typeface="Inter"/>
              </a:rPr>
              <a:t>Agents / N8N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67728" y="4471416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AA6C6"/>
                </a:solidFill>
                <a:latin typeface="Inter"/>
              </a:rPr>
              <a:t>Workflows, tools, orchestration multi-étapes.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967728" y="4983480"/>
            <a:ext cx="5120640" cy="12801"/>
          </a:xfrm>
          <a:prstGeom prst="rect">
            <a:avLst/>
          </a:prstGeom>
          <a:solidFill>
            <a:srgbClr val="20283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576072" y="5175504"/>
            <a:ext cx="164592" cy="164592"/>
          </a:xfrm>
          <a:prstGeom prst="ellipse">
            <a:avLst/>
          </a:prstGeom>
          <a:solidFill>
            <a:srgbClr val="FFE45C"/>
          </a:solidFill>
          <a:ln>
            <a:noFill/>
          </a:ln>
          <a:effectLst>
            <a:glow rad="76200">
              <a:srgbClr val="FFE45C">
                <a:alpha val="5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2688" y="5129784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AF0FB"/>
                </a:solidFill>
                <a:latin typeface="Inter"/>
              </a:rPr>
              <a:t>Déploiement &amp; infra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2688" y="5495544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AA6C6"/>
                </a:solidFill>
                <a:latin typeface="Inter"/>
              </a:rPr>
              <a:t>Hetzner, Caddy, HTTPS, nom de domaine.</a:t>
            </a:r>
          </a:p>
        </p:txBody>
      </p:sp>
      <p:sp>
        <p:nvSpPr>
          <p:cNvPr id="34" name="Oval 33"/>
          <p:cNvSpPr/>
          <p:nvPr/>
        </p:nvSpPr>
        <p:spPr>
          <a:xfrm>
            <a:off x="6611112" y="5175504"/>
            <a:ext cx="164592" cy="164592"/>
          </a:xfrm>
          <a:prstGeom prst="ellipse">
            <a:avLst/>
          </a:prstGeom>
          <a:solidFill>
            <a:srgbClr val="29D8FF"/>
          </a:solidFill>
          <a:ln>
            <a:noFill/>
          </a:ln>
          <a:effectLst>
            <a:glow rad="76200">
              <a:srgbClr val="29D8FF">
                <a:alpha val="5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67728" y="5129784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AF0FB"/>
                </a:solidFill>
                <a:latin typeface="Inter"/>
              </a:rPr>
              <a:t>Autonomie &amp; veille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67728" y="5495544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AA6C6"/>
                </a:solidFill>
                <a:latin typeface="Inter"/>
              </a:rPr>
              <a:t>Travail distanciel, recherche continue, débogage.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" y="643737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29D8FF"/>
                </a:solidFill>
                <a:latin typeface="Inter"/>
              </a:rPr>
              <a:t>BNDRS</a:t>
            </a:r>
            <a:r>
              <a:rPr sz="1000" b="0" i="0">
                <a:solidFill>
                  <a:srgbClr val="59647F"/>
                </a:solidFill>
                <a:latin typeface="Inter"/>
              </a:rPr>
              <a:t>   ·   Soutenance de stage — DEV IA · Greta de Besançon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37215" y="6437376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9647F"/>
                </a:solidFill>
                <a:latin typeface="Inter"/>
              </a:rPr>
              <a:t>10</a:t>
            </a:r>
          </a:p>
        </p:txBody>
      </p:sp>
      <p:sp>
        <p:nvSpPr>
          <p:cNvPr id="39" name="Oval 38"/>
          <p:cNvSpPr/>
          <p:nvPr/>
        </p:nvSpPr>
        <p:spPr>
          <a:xfrm>
            <a:off x="11469319" y="6501384"/>
            <a:ext cx="91440" cy="91440"/>
          </a:xfrm>
          <a:prstGeom prst="ellipse">
            <a:avLst/>
          </a:prstGeom>
          <a:solidFill>
            <a:srgbClr val="29D8FF"/>
          </a:solidFill>
          <a:ln>
            <a:noFill/>
          </a:ln>
          <a:effectLst>
            <a:glow rad="76200">
              <a:srgbClr val="29D8FF">
                <a:alpha val="5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0608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767992" y="-2240279"/>
            <a:ext cx="15727680" cy="10241280"/>
          </a:xfrm>
          <a:prstGeom prst="ellipse">
            <a:avLst/>
          </a:prstGeom>
          <a:solidFill>
            <a:srgbClr val="0E1626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340967" y="-411480"/>
            <a:ext cx="9509760" cy="6583680"/>
          </a:xfrm>
          <a:prstGeom prst="ellipse">
            <a:avLst/>
          </a:prstGeom>
          <a:solidFill>
            <a:srgbClr val="121C30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475488"/>
            <a:ext cx="91440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 spc="180">
                <a:solidFill>
                  <a:srgbClr val="29D8FF"/>
                </a:solidFill>
                <a:latin typeface="Inter"/>
              </a:rPr>
              <a:t>BILAN TECHNIQUE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68096"/>
            <a:ext cx="109728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EAF0FB"/>
                </a:solidFill>
                <a:latin typeface="Inter"/>
              </a:rPr>
              <a:t>Difficultés rencontrées &amp; résultats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920240"/>
            <a:ext cx="41148" cy="3886200"/>
          </a:xfrm>
          <a:prstGeom prst="rect">
            <a:avLst/>
          </a:prstGeom>
          <a:solidFill>
            <a:srgbClr val="FF96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1920240"/>
            <a:ext cx="41148" cy="3886200"/>
          </a:xfrm>
          <a:prstGeom prst="rect">
            <a:avLst/>
          </a:prstGeom>
          <a:solidFill>
            <a:srgbClr val="FF9621"/>
          </a:solidFill>
          <a:ln>
            <a:noFill/>
          </a:ln>
          <a:effectLst>
            <a:glow rad="63500">
              <a:srgbClr val="FF9621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32688" y="2066543"/>
            <a:ext cx="182880" cy="182880"/>
          </a:xfrm>
          <a:prstGeom prst="ellipse">
            <a:avLst/>
          </a:prstGeom>
          <a:solidFill>
            <a:srgbClr val="FF9621"/>
          </a:solidFill>
          <a:ln>
            <a:noFill/>
          </a:ln>
          <a:effectLst>
            <a:glow rad="76200">
              <a:srgbClr val="FF9621">
                <a:alpha val="5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956816"/>
            <a:ext cx="4754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9621"/>
                </a:solidFill>
                <a:latin typeface="Inter"/>
              </a:rPr>
              <a:t>Difficultés</a:t>
            </a:r>
          </a:p>
        </p:txBody>
      </p:sp>
      <p:sp>
        <p:nvSpPr>
          <p:cNvPr id="11" name="Oval 10"/>
          <p:cNvSpPr/>
          <p:nvPr/>
        </p:nvSpPr>
        <p:spPr>
          <a:xfrm>
            <a:off x="877824" y="2724912"/>
            <a:ext cx="73152" cy="73152"/>
          </a:xfrm>
          <a:prstGeom prst="ellipse">
            <a:avLst/>
          </a:prstGeom>
          <a:solidFill>
            <a:srgbClr val="FF9621"/>
          </a:solidFill>
          <a:ln>
            <a:noFill/>
          </a:ln>
          <a:effectLst>
            <a:glow rad="76200">
              <a:srgbClr val="FF9621">
                <a:alpha val="5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2670048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AF0FB"/>
                </a:solidFill>
                <a:latin typeface="Inter"/>
              </a:rPr>
              <a:t>Orchestration de l’IA — </a:t>
            </a:r>
            <a:r>
              <a:rPr sz="1200" b="0" i="0">
                <a:solidFill>
                  <a:srgbClr val="9AA6C6"/>
                </a:solidFill>
                <a:latin typeface="Inter"/>
              </a:rPr>
              <a:t>router les tâches, gérer tokens, contextes et latences.</a:t>
            </a:r>
          </a:p>
        </p:txBody>
      </p:sp>
      <p:sp>
        <p:nvSpPr>
          <p:cNvPr id="13" name="Oval 12"/>
          <p:cNvSpPr/>
          <p:nvPr/>
        </p:nvSpPr>
        <p:spPr>
          <a:xfrm>
            <a:off x="877824" y="3493008"/>
            <a:ext cx="73152" cy="73152"/>
          </a:xfrm>
          <a:prstGeom prst="ellipse">
            <a:avLst/>
          </a:prstGeom>
          <a:solidFill>
            <a:srgbClr val="FF9621"/>
          </a:solidFill>
          <a:ln>
            <a:noFill/>
          </a:ln>
          <a:effectLst>
            <a:glow rad="76200">
              <a:srgbClr val="FF9621">
                <a:alpha val="5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3438144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AF0FB"/>
                </a:solidFill>
                <a:latin typeface="Inter"/>
              </a:rPr>
              <a:t>Déploiement réseau — </a:t>
            </a:r>
            <a:r>
              <a:rPr sz="1200" b="0" i="0">
                <a:solidFill>
                  <a:srgbClr val="9AA6C6"/>
                </a:solidFill>
                <a:latin typeface="Inter"/>
              </a:rPr>
              <a:t>ports, reverse proxy, HTTPS, nom de domaine.</a:t>
            </a:r>
          </a:p>
        </p:txBody>
      </p:sp>
      <p:sp>
        <p:nvSpPr>
          <p:cNvPr id="15" name="Oval 14"/>
          <p:cNvSpPr/>
          <p:nvPr/>
        </p:nvSpPr>
        <p:spPr>
          <a:xfrm>
            <a:off x="877824" y="4261103"/>
            <a:ext cx="73152" cy="73152"/>
          </a:xfrm>
          <a:prstGeom prst="ellipse">
            <a:avLst/>
          </a:prstGeom>
          <a:solidFill>
            <a:srgbClr val="FF9621"/>
          </a:solidFill>
          <a:ln>
            <a:noFill/>
          </a:ln>
          <a:effectLst>
            <a:glow rad="76200">
              <a:srgbClr val="FF9621">
                <a:alpha val="5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4206240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AF0FB"/>
                </a:solidFill>
                <a:latin typeface="Inter"/>
              </a:rPr>
              <a:t>Coordination distancielle — </a:t>
            </a:r>
            <a:r>
              <a:rPr sz="1200" b="0" i="0">
                <a:solidFill>
                  <a:srgbClr val="9AA6C6"/>
                </a:solidFill>
                <a:latin typeface="Inter"/>
              </a:rPr>
              <a:t>synchroniser le travail à distance via Discord.</a:t>
            </a:r>
          </a:p>
        </p:txBody>
      </p:sp>
      <p:sp>
        <p:nvSpPr>
          <p:cNvPr id="17" name="Oval 16"/>
          <p:cNvSpPr/>
          <p:nvPr/>
        </p:nvSpPr>
        <p:spPr>
          <a:xfrm>
            <a:off x="877824" y="5029199"/>
            <a:ext cx="73152" cy="73152"/>
          </a:xfrm>
          <a:prstGeom prst="ellipse">
            <a:avLst/>
          </a:prstGeom>
          <a:solidFill>
            <a:srgbClr val="FF9621"/>
          </a:solidFill>
          <a:ln>
            <a:noFill/>
          </a:ln>
          <a:effectLst>
            <a:glow rad="76200">
              <a:srgbClr val="FF9621">
                <a:alpha val="5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4974336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AF0FB"/>
                </a:solidFill>
                <a:latin typeface="Inter"/>
              </a:rPr>
              <a:t>Cadrage du concept — </a:t>
            </a:r>
            <a:r>
              <a:rPr sz="1200" b="0" i="0">
                <a:solidFill>
                  <a:srgbClr val="9AA6C6"/>
                </a:solidFill>
                <a:latin typeface="Inter"/>
              </a:rPr>
              <a:t>garder un positionnement honnête et défendable.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55080" y="1920240"/>
            <a:ext cx="41148" cy="3886200"/>
          </a:xfrm>
          <a:prstGeom prst="rect">
            <a:avLst/>
          </a:prstGeom>
          <a:solidFill>
            <a:srgbClr val="3FE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55080" y="1920240"/>
            <a:ext cx="41148" cy="3886200"/>
          </a:xfrm>
          <a:prstGeom prst="rect">
            <a:avLst/>
          </a:prstGeom>
          <a:solidFill>
            <a:srgbClr val="3FEE5C"/>
          </a:solidFill>
          <a:ln>
            <a:noFill/>
          </a:ln>
          <a:effectLst>
            <a:glow rad="63500">
              <a:srgbClr val="3FEE5C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720840" y="2066543"/>
            <a:ext cx="182880" cy="182880"/>
          </a:xfrm>
          <a:prstGeom prst="ellipse">
            <a:avLst/>
          </a:prstGeom>
          <a:solidFill>
            <a:srgbClr val="3FEE5C"/>
          </a:solidFill>
          <a:ln>
            <a:noFill/>
          </a:ln>
          <a:effectLst>
            <a:glow rad="76200">
              <a:srgbClr val="3FEE5C">
                <a:alpha val="5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68312" y="1956816"/>
            <a:ext cx="4754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3FEE5C"/>
                </a:solidFill>
                <a:latin typeface="Inter"/>
              </a:rPr>
              <a:t>Résultats obtenus</a:t>
            </a:r>
          </a:p>
        </p:txBody>
      </p:sp>
      <p:sp>
        <p:nvSpPr>
          <p:cNvPr id="23" name="Oval 22"/>
          <p:cNvSpPr/>
          <p:nvPr/>
        </p:nvSpPr>
        <p:spPr>
          <a:xfrm>
            <a:off x="6665976" y="2724912"/>
            <a:ext cx="73152" cy="73152"/>
          </a:xfrm>
          <a:prstGeom prst="ellipse">
            <a:avLst/>
          </a:prstGeom>
          <a:solidFill>
            <a:srgbClr val="3FEE5C"/>
          </a:solidFill>
          <a:ln>
            <a:noFill/>
          </a:ln>
          <a:effectLst>
            <a:glow rad="76200">
              <a:srgbClr val="3FEE5C">
                <a:alpha val="5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31152" y="2670048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AF0FB"/>
                </a:solidFill>
                <a:latin typeface="Inter"/>
              </a:rPr>
              <a:t>bndrs.fr en ligne — </a:t>
            </a:r>
            <a:r>
              <a:rPr sz="1200" b="0" i="0">
                <a:solidFill>
                  <a:srgbClr val="9AA6C6"/>
                </a:solidFill>
                <a:latin typeface="Inter"/>
              </a:rPr>
              <a:t>projet réellement déployé, pas une maquette.</a:t>
            </a:r>
          </a:p>
        </p:txBody>
      </p:sp>
      <p:sp>
        <p:nvSpPr>
          <p:cNvPr id="25" name="Oval 24"/>
          <p:cNvSpPr/>
          <p:nvPr/>
        </p:nvSpPr>
        <p:spPr>
          <a:xfrm>
            <a:off x="6665976" y="3493008"/>
            <a:ext cx="73152" cy="73152"/>
          </a:xfrm>
          <a:prstGeom prst="ellipse">
            <a:avLst/>
          </a:prstGeom>
          <a:solidFill>
            <a:srgbClr val="3FEE5C"/>
          </a:solidFill>
          <a:ln>
            <a:noFill/>
          </a:ln>
          <a:effectLst>
            <a:glow rad="76200">
              <a:srgbClr val="3FEE5C">
                <a:alpha val="5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31152" y="3438144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AF0FB"/>
                </a:solidFill>
                <a:latin typeface="Inter"/>
              </a:rPr>
              <a:t>Backend opérationnel — </a:t>
            </a:r>
            <a:r>
              <a:rPr sz="1200" b="0" i="0">
                <a:solidFill>
                  <a:srgbClr val="9AA6C6"/>
                </a:solidFill>
                <a:latin typeface="Inter"/>
              </a:rPr>
              <a:t>API FastAPI + SQLite, sessions, comptes.</a:t>
            </a:r>
          </a:p>
        </p:txBody>
      </p:sp>
      <p:sp>
        <p:nvSpPr>
          <p:cNvPr id="27" name="Oval 26"/>
          <p:cNvSpPr/>
          <p:nvPr/>
        </p:nvSpPr>
        <p:spPr>
          <a:xfrm>
            <a:off x="6665976" y="4261103"/>
            <a:ext cx="73152" cy="73152"/>
          </a:xfrm>
          <a:prstGeom prst="ellipse">
            <a:avLst/>
          </a:prstGeom>
          <a:solidFill>
            <a:srgbClr val="3FEE5C"/>
          </a:solidFill>
          <a:ln>
            <a:noFill/>
          </a:ln>
          <a:effectLst>
            <a:glow rad="76200">
              <a:srgbClr val="3FEE5C">
                <a:alpha val="5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31152" y="4206240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AF0FB"/>
                </a:solidFill>
                <a:latin typeface="Inter"/>
              </a:rPr>
              <a:t>Deux frontends — </a:t>
            </a:r>
            <a:r>
              <a:rPr sz="1200" b="0" i="0">
                <a:solidFill>
                  <a:srgbClr val="9AA6C6"/>
                </a:solidFill>
                <a:latin typeface="Inter"/>
              </a:rPr>
              <a:t>interface utilisateur + cockpit d’administration.</a:t>
            </a:r>
          </a:p>
        </p:txBody>
      </p:sp>
      <p:sp>
        <p:nvSpPr>
          <p:cNvPr id="29" name="Oval 28"/>
          <p:cNvSpPr/>
          <p:nvPr/>
        </p:nvSpPr>
        <p:spPr>
          <a:xfrm>
            <a:off x="6665976" y="5029199"/>
            <a:ext cx="73152" cy="73152"/>
          </a:xfrm>
          <a:prstGeom prst="ellipse">
            <a:avLst/>
          </a:prstGeom>
          <a:solidFill>
            <a:srgbClr val="3FEE5C"/>
          </a:solidFill>
          <a:ln>
            <a:noFill/>
          </a:ln>
          <a:effectLst>
            <a:glow rad="76200">
              <a:srgbClr val="3FEE5C">
                <a:alpha val="5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31152" y="4974336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AF0FB"/>
                </a:solidFill>
                <a:latin typeface="Inter"/>
              </a:rPr>
              <a:t>Chaîne complète maîtrisée — </a:t>
            </a:r>
            <a:r>
              <a:rPr sz="1200" b="0" i="0">
                <a:solidFill>
                  <a:srgbClr val="9AA6C6"/>
                </a:solidFill>
                <a:latin typeface="Inter"/>
              </a:rPr>
              <a:t>de la conception au déploiement IA.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43737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29D8FF"/>
                </a:solidFill>
                <a:latin typeface="Inter"/>
              </a:rPr>
              <a:t>BNDRS</a:t>
            </a:r>
            <a:r>
              <a:rPr sz="1000" b="0" i="0">
                <a:solidFill>
                  <a:srgbClr val="59647F"/>
                </a:solidFill>
                <a:latin typeface="Inter"/>
              </a:rPr>
              <a:t>   ·   Soutenance de stage — DEV IA · Greta de Besançon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37215" y="6437376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9647F"/>
                </a:solidFill>
                <a:latin typeface="Inter"/>
              </a:rPr>
              <a:t>11</a:t>
            </a:r>
          </a:p>
        </p:txBody>
      </p:sp>
      <p:sp>
        <p:nvSpPr>
          <p:cNvPr id="33" name="Oval 32"/>
          <p:cNvSpPr/>
          <p:nvPr/>
        </p:nvSpPr>
        <p:spPr>
          <a:xfrm>
            <a:off x="11469319" y="6501384"/>
            <a:ext cx="91440" cy="91440"/>
          </a:xfrm>
          <a:prstGeom prst="ellipse">
            <a:avLst/>
          </a:prstGeom>
          <a:solidFill>
            <a:srgbClr val="29D8FF"/>
          </a:solidFill>
          <a:ln>
            <a:noFill/>
          </a:ln>
          <a:effectLst>
            <a:glow rad="76200">
              <a:srgbClr val="29D8FF">
                <a:alpha val="5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0608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767992" y="-2240279"/>
            <a:ext cx="15727680" cy="10241280"/>
          </a:xfrm>
          <a:prstGeom prst="ellipse">
            <a:avLst/>
          </a:prstGeom>
          <a:solidFill>
            <a:srgbClr val="0E1626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340967" y="-411480"/>
            <a:ext cx="9509760" cy="6583680"/>
          </a:xfrm>
          <a:prstGeom prst="ellipse">
            <a:avLst/>
          </a:prstGeom>
          <a:solidFill>
            <a:srgbClr val="121C30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475488"/>
            <a:ext cx="91440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 spc="180">
                <a:solidFill>
                  <a:srgbClr val="29D8FF"/>
                </a:solidFill>
                <a:latin typeface="Inter"/>
              </a:rPr>
              <a:t>PERSPECTIVES &amp; 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68096"/>
            <a:ext cx="109728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EAF0FB"/>
                </a:solidFill>
                <a:latin typeface="Inter"/>
              </a:rPr>
              <a:t>Suites envisagées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874519"/>
            <a:ext cx="868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29D8FF"/>
                </a:solidFill>
                <a:latin typeface="Inter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1328" y="1892807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AF0FB"/>
                </a:solidFill>
                <a:latin typeface="Inter"/>
              </a:rPr>
              <a:t>Analyse vidéo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81328" y="2258568"/>
            <a:ext cx="42976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AA6C6"/>
                </a:solidFill>
                <a:latin typeface="Inter"/>
              </a:rPr>
              <a:t>étendre le pipeline aux flux image/vidéo en temps réel.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6208" y="1874519"/>
            <a:ext cx="868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FF4CC5"/>
                </a:solidFill>
                <a:latin typeface="Inter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50608" y="1892807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AF0FB"/>
                </a:solidFill>
                <a:latin typeface="Inter"/>
              </a:rPr>
              <a:t>Nouveaux modèles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50608" y="2258568"/>
            <a:ext cx="42976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AA6C6"/>
                </a:solidFill>
                <a:latin typeface="Inter"/>
              </a:rPr>
              <a:t>intégrer les modèles IA découverts en veille.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2788920"/>
            <a:ext cx="868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A862FF"/>
                </a:solidFill>
                <a:latin typeface="Inter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81328" y="2807208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AF0FB"/>
                </a:solidFill>
                <a:latin typeface="Inter"/>
              </a:rPr>
              <a:t>Sphère AION 3D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1328" y="3172968"/>
            <a:ext cx="42976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AA6C6"/>
                </a:solidFill>
                <a:latin typeface="Inter"/>
              </a:rPr>
              <a:t>finaliser la représentation cognitive vivante.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36208" y="2788920"/>
            <a:ext cx="868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3FEE5C"/>
                </a:solidFill>
                <a:latin typeface="Inter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50608" y="2807208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AF0FB"/>
                </a:solidFill>
                <a:latin typeface="Inter"/>
              </a:rPr>
              <a:t>Passage en production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50608" y="3172968"/>
            <a:ext cx="42976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AA6C6"/>
                </a:solidFill>
                <a:latin typeface="Inter"/>
              </a:rPr>
              <a:t>d’un projet alpha vers un usage réel.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4114800"/>
            <a:ext cx="11064240" cy="12801"/>
          </a:xfrm>
          <a:prstGeom prst="rect">
            <a:avLst/>
          </a:prstGeom>
          <a:solidFill>
            <a:srgbClr val="29D8FF">
              <a:alpha val="4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4343400"/>
            <a:ext cx="110642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29D8FF"/>
                </a:solidFill>
                <a:latin typeface="Inter"/>
              </a:rPr>
              <a:t>Conclusion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4773168"/>
            <a:ext cx="110642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9AA6C6"/>
                </a:solidFill>
                <a:latin typeface="Inter"/>
              </a:rPr>
              <a:t>Ce stage chez CoAI m’a permis de couvrir </a:t>
            </a:r>
            <a:r>
              <a:rPr sz="1400" b="1" i="0">
                <a:solidFill>
                  <a:srgbClr val="EAF0FB"/>
                </a:solidFill>
                <a:latin typeface="Inter"/>
              </a:rPr>
              <a:t>l’ensemble du cycle de développement IA</a:t>
            </a:r>
            <a:r>
              <a:rPr sz="1400" b="0" i="0">
                <a:solidFill>
                  <a:srgbClr val="9AA6C6"/>
                </a:solidFill>
                <a:latin typeface="Inter"/>
              </a:rPr>
              <a:t> — de la conception à un produit réellement déployé. BNDRS démontre qu’une architecture IA cognitive, sobre et évolutive peut être construite avec rigueur, en autonomie et de bout en bout.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43737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29D8FF"/>
                </a:solidFill>
                <a:latin typeface="Inter"/>
              </a:rPr>
              <a:t>BNDRS</a:t>
            </a:r>
            <a:r>
              <a:rPr sz="1000" b="0" i="0">
                <a:solidFill>
                  <a:srgbClr val="59647F"/>
                </a:solidFill>
                <a:latin typeface="Inter"/>
              </a:rPr>
              <a:t>   ·   Soutenance de stage — DEV IA · Greta de Besançon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37215" y="6437376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9647F"/>
                </a:solidFill>
                <a:latin typeface="Inter"/>
              </a:rPr>
              <a:t>12</a:t>
            </a:r>
          </a:p>
        </p:txBody>
      </p:sp>
      <p:sp>
        <p:nvSpPr>
          <p:cNvPr id="24" name="Oval 23"/>
          <p:cNvSpPr/>
          <p:nvPr/>
        </p:nvSpPr>
        <p:spPr>
          <a:xfrm>
            <a:off x="11469319" y="6501384"/>
            <a:ext cx="91440" cy="91440"/>
          </a:xfrm>
          <a:prstGeom prst="ellipse">
            <a:avLst/>
          </a:prstGeom>
          <a:solidFill>
            <a:srgbClr val="29D8FF"/>
          </a:solidFill>
          <a:ln>
            <a:noFill/>
          </a:ln>
          <a:effectLst>
            <a:glow rad="76200">
              <a:srgbClr val="29D8FF">
                <a:alpha val="5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0608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767992" y="-2240279"/>
            <a:ext cx="15727680" cy="10241280"/>
          </a:xfrm>
          <a:prstGeom prst="ellipse">
            <a:avLst/>
          </a:prstGeom>
          <a:solidFill>
            <a:srgbClr val="0E1626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340967" y="-411480"/>
            <a:ext cx="9509760" cy="6583680"/>
          </a:xfrm>
          <a:prstGeom prst="ellipse">
            <a:avLst/>
          </a:prstGeom>
          <a:solidFill>
            <a:srgbClr val="121C30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475488"/>
            <a:ext cx="91440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 spc="180">
                <a:solidFill>
                  <a:srgbClr val="29D8FF"/>
                </a:solidFill>
                <a:latin typeface="Inter"/>
              </a:rPr>
              <a:t>GLOSSAIRE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68096"/>
            <a:ext cx="109728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EAF0FB"/>
                </a:solidFill>
                <a:latin typeface="Inter"/>
              </a:rPr>
              <a:t>Glossaire technique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920240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29D8FF"/>
                </a:solidFill>
                <a:latin typeface="Consolas"/>
              </a:rPr>
              <a:t>LLM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304288"/>
            <a:ext cx="34290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9AA6C6"/>
                </a:solidFill>
                <a:latin typeface="Inter"/>
              </a:rPr>
              <a:t>Large Language Model — modèle de langage entraîné sur de vastes corpus.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169664" y="1965960"/>
            <a:ext cx="10972" cy="960120"/>
          </a:xfrm>
          <a:prstGeom prst="rect">
            <a:avLst/>
          </a:prstGeom>
          <a:solidFill>
            <a:srgbClr val="20283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0" y="1920240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FF4CC5"/>
                </a:solidFill>
                <a:latin typeface="Consolas"/>
              </a:rPr>
              <a:t>NLP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2304288"/>
            <a:ext cx="34290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9AA6C6"/>
                </a:solidFill>
                <a:latin typeface="Inter"/>
              </a:rPr>
              <a:t>Traitement automatique du langage naturel.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91856" y="1965960"/>
            <a:ext cx="10972" cy="960120"/>
          </a:xfrm>
          <a:prstGeom prst="rect">
            <a:avLst/>
          </a:prstGeom>
          <a:solidFill>
            <a:srgbClr val="20283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11311" y="1920240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A862FF"/>
                </a:solidFill>
                <a:latin typeface="Consolas"/>
              </a:rPr>
              <a:t>API / REST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11311" y="2304288"/>
            <a:ext cx="34290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9AA6C6"/>
                </a:solidFill>
                <a:latin typeface="Inter"/>
              </a:rPr>
              <a:t>Interface standardisée d’échange entre logiciels (endpoints HTTP).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3218688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3FEE5C"/>
                </a:solidFill>
                <a:latin typeface="Consolas"/>
              </a:rPr>
              <a:t>FastAPI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3602736"/>
            <a:ext cx="34290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9AA6C6"/>
                </a:solidFill>
                <a:latin typeface="Inter"/>
              </a:rPr>
              <a:t>Framework Python asynchrone pour APIs performantes.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69664" y="3264408"/>
            <a:ext cx="10972" cy="960120"/>
          </a:xfrm>
          <a:prstGeom prst="rect">
            <a:avLst/>
          </a:prstGeom>
          <a:solidFill>
            <a:srgbClr val="20283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20" y="3218688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FF9621"/>
                </a:solidFill>
                <a:latin typeface="Consolas"/>
              </a:rPr>
              <a:t>Ollama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3602736"/>
            <a:ext cx="34290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9AA6C6"/>
                </a:solidFill>
                <a:latin typeface="Inter"/>
              </a:rPr>
              <a:t>Exécution locale de LLM, sans dépendance cloud.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91856" y="3264408"/>
            <a:ext cx="10972" cy="960120"/>
          </a:xfrm>
          <a:prstGeom prst="rect">
            <a:avLst/>
          </a:prstGeom>
          <a:solidFill>
            <a:srgbClr val="20283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11311" y="3218688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25F2C2"/>
                </a:solidFill>
                <a:latin typeface="Consolas"/>
              </a:rPr>
              <a:t>Computer Vision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11311" y="3602736"/>
            <a:ext cx="34290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9AA6C6"/>
                </a:solidFill>
                <a:latin typeface="Inter"/>
              </a:rPr>
              <a:t>Analyse d’images — YOLO (détection), OpenCV (traitement).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4517136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FFE45C"/>
                </a:solidFill>
                <a:latin typeface="Consolas"/>
              </a:rPr>
              <a:t>Reverse proxy (Caddy)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4901183"/>
            <a:ext cx="34290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9AA6C6"/>
                </a:solidFill>
                <a:latin typeface="Inter"/>
              </a:rPr>
              <a:t>Point d’entrée HTTPS qui route vers les services internes.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69664" y="4562855"/>
            <a:ext cx="10972" cy="960120"/>
          </a:xfrm>
          <a:prstGeom prst="rect">
            <a:avLst/>
          </a:prstGeom>
          <a:solidFill>
            <a:srgbClr val="20283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9120" y="4517136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29D8FF"/>
                </a:solidFill>
                <a:latin typeface="Consolas"/>
              </a:rPr>
              <a:t>Agent / N8N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9120" y="4901183"/>
            <a:ext cx="34290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9AA6C6"/>
                </a:solidFill>
                <a:latin typeface="Inter"/>
              </a:rPr>
              <a:t>Orchestration de tâches IA en workflows automatisés.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991856" y="4562855"/>
            <a:ext cx="10972" cy="960120"/>
          </a:xfrm>
          <a:prstGeom prst="rect">
            <a:avLst/>
          </a:prstGeom>
          <a:solidFill>
            <a:srgbClr val="20283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11311" y="4517136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FF4CC5"/>
                </a:solidFill>
                <a:latin typeface="Consolas"/>
              </a:rPr>
              <a:t>AION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11311" y="4901183"/>
            <a:ext cx="34290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9AA6C6"/>
                </a:solidFill>
                <a:latin typeface="Inter"/>
              </a:rPr>
              <a:t>Sphère cognitive : identité visuelle et carte des tensions de BNDRS.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437376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29D8FF"/>
                </a:solidFill>
                <a:latin typeface="Inter"/>
              </a:rPr>
              <a:t>BNDRS</a:t>
            </a:r>
            <a:r>
              <a:rPr sz="1000" b="0" i="0">
                <a:solidFill>
                  <a:srgbClr val="59647F"/>
                </a:solidFill>
                <a:latin typeface="Inter"/>
              </a:rPr>
              <a:t>   ·   Soutenance de stage — DEV IA · Greta de Besançon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37215" y="6437376"/>
            <a:ext cx="777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9647F"/>
                </a:solidFill>
                <a:latin typeface="Inter"/>
              </a:rPr>
              <a:t>13</a:t>
            </a:r>
          </a:p>
        </p:txBody>
      </p:sp>
      <p:sp>
        <p:nvSpPr>
          <p:cNvPr id="33" name="Oval 32"/>
          <p:cNvSpPr/>
          <p:nvPr/>
        </p:nvSpPr>
        <p:spPr>
          <a:xfrm>
            <a:off x="11469319" y="6501384"/>
            <a:ext cx="91440" cy="91440"/>
          </a:xfrm>
          <a:prstGeom prst="ellipse">
            <a:avLst/>
          </a:prstGeom>
          <a:solidFill>
            <a:srgbClr val="29D8FF"/>
          </a:solidFill>
          <a:ln>
            <a:noFill/>
          </a:ln>
          <a:effectLst>
            <a:glow rad="76200">
              <a:srgbClr val="29D8FF">
                <a:alpha val="5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0608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767992" y="-2240279"/>
            <a:ext cx="15727680" cy="10241280"/>
          </a:xfrm>
          <a:prstGeom prst="ellipse">
            <a:avLst/>
          </a:prstGeom>
          <a:solidFill>
            <a:srgbClr val="0E1626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340967" y="-411480"/>
            <a:ext cx="9509760" cy="6583680"/>
          </a:xfrm>
          <a:prstGeom prst="ellipse">
            <a:avLst/>
          </a:prstGeom>
          <a:solidFill>
            <a:srgbClr val="121C30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809847" y="457200"/>
            <a:ext cx="4572000" cy="4572000"/>
          </a:xfrm>
          <a:prstGeom prst="ellipse">
            <a:avLst/>
          </a:prstGeom>
          <a:noFill/>
          <a:ln w="9525">
            <a:solidFill>
              <a:srgbClr val="29D8FF">
                <a:alpha val="1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4650181" y="1297533"/>
            <a:ext cx="2891332" cy="2891332"/>
          </a:xfrm>
          <a:prstGeom prst="ellipse">
            <a:avLst/>
          </a:prstGeom>
          <a:solidFill>
            <a:srgbClr val="0A0F1E"/>
          </a:solidFill>
          <a:ln>
            <a:noFill/>
          </a:ln>
          <a:effectLst>
            <a:glow rad="88900">
              <a:srgbClr val="29D8FF">
                <a:alpha val="5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4678527" y="1325880"/>
            <a:ext cx="2834640" cy="2834640"/>
          </a:xfrm>
          <a:prstGeom prst="ellipse">
            <a:avLst/>
          </a:prstGeom>
          <a:solidFill>
            <a:srgbClr val="070B16"/>
          </a:solidFill>
          <a:ln w="12700">
            <a:solidFill>
              <a:srgbClr val="29D8FF">
                <a:alpha val="2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763566" y="1325880"/>
            <a:ext cx="1700784" cy="1700784"/>
          </a:xfrm>
          <a:prstGeom prst="ellipse">
            <a:avLst/>
          </a:prstGeom>
          <a:solidFill>
            <a:srgbClr val="172446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735220" y="2289657"/>
            <a:ext cx="2721254" cy="907084"/>
          </a:xfrm>
          <a:prstGeom prst="ellipse">
            <a:avLst/>
          </a:prstGeom>
          <a:noFill/>
          <a:ln w="9525">
            <a:solidFill>
              <a:srgbClr val="29D8FF">
                <a:alpha val="1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613958" y="1382572"/>
            <a:ext cx="963777" cy="2721254"/>
          </a:xfrm>
          <a:prstGeom prst="ellipse">
            <a:avLst/>
          </a:prstGeom>
          <a:noFill/>
          <a:ln w="9525">
            <a:solidFill>
              <a:srgbClr val="29D8FF">
                <a:alpha val="1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 rot="1440000">
            <a:off x="4876952" y="2034540"/>
            <a:ext cx="2437790" cy="1417320"/>
          </a:xfrm>
          <a:prstGeom prst="ellipse">
            <a:avLst/>
          </a:prstGeom>
          <a:noFill/>
          <a:ln w="9525">
            <a:solidFill>
              <a:srgbClr val="29D8FF">
                <a:alpha val="9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694037" y="1717768"/>
            <a:ext cx="803620" cy="803620"/>
          </a:xfrm>
          <a:prstGeom prst="ellipse">
            <a:avLst/>
          </a:prstGeom>
          <a:solidFill>
            <a:srgbClr val="29D8FF"/>
          </a:solidFill>
          <a:ln>
            <a:noFill/>
          </a:ln>
          <a:effectLst>
            <a:glow rad="88900">
              <a:srgbClr val="29D8FF">
                <a:alpha val="5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713171" y="1736902"/>
            <a:ext cx="765352" cy="765352"/>
          </a:xfrm>
          <a:prstGeom prst="ellipse">
            <a:avLst/>
          </a:prstGeom>
          <a:solidFill>
            <a:srgbClr val="29D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866241" y="1912933"/>
            <a:ext cx="229605" cy="153070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127109" y="2823278"/>
            <a:ext cx="803620" cy="803620"/>
          </a:xfrm>
          <a:prstGeom prst="ellipse">
            <a:avLst/>
          </a:prstGeom>
          <a:solidFill>
            <a:srgbClr val="FF4CC5"/>
          </a:solidFill>
          <a:ln>
            <a:noFill/>
          </a:ln>
          <a:effectLst>
            <a:glow rad="88900">
              <a:srgbClr val="FF4CC5">
                <a:alpha val="5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146243" y="2842412"/>
            <a:ext cx="765352" cy="765352"/>
          </a:xfrm>
          <a:prstGeom prst="ellipse">
            <a:avLst/>
          </a:prstGeom>
          <a:solidFill>
            <a:srgbClr val="FF4C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299313" y="3018443"/>
            <a:ext cx="229605" cy="153070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260965" y="2823278"/>
            <a:ext cx="803620" cy="803620"/>
          </a:xfrm>
          <a:prstGeom prst="ellipse">
            <a:avLst/>
          </a:prstGeom>
          <a:solidFill>
            <a:srgbClr val="3FEE5C"/>
          </a:solidFill>
          <a:ln>
            <a:noFill/>
          </a:ln>
          <a:effectLst>
            <a:glow rad="88900">
              <a:srgbClr val="3FEE5C">
                <a:alpha val="5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280099" y="2842412"/>
            <a:ext cx="765352" cy="765352"/>
          </a:xfrm>
          <a:prstGeom prst="ellipse">
            <a:avLst/>
          </a:prstGeom>
          <a:solidFill>
            <a:srgbClr val="3FEE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33169" y="3018443"/>
            <a:ext cx="229605" cy="153070"/>
          </a:xfrm>
          <a:prstGeom prst="ellipse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0" y="4206240"/>
            <a:ext cx="121916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EAF0FB"/>
                </a:solidFill>
                <a:latin typeface="Inter"/>
              </a:rPr>
              <a:t>Merci de votre attention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0" y="5029200"/>
            <a:ext cx="121916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9AA6C6"/>
                </a:solidFill>
                <a:latin typeface="Inter"/>
              </a:rPr>
              <a:t>Des questions ?    </a:t>
            </a:r>
            <a:r>
              <a:rPr sz="1500" b="1" i="0">
                <a:solidFill>
                  <a:srgbClr val="29D8FF"/>
                </a:solidFill>
                <a:latin typeface="Consolas"/>
              </a:rPr>
              <a:t>bndrs.fr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0" y="5715000"/>
            <a:ext cx="121916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9647F"/>
                </a:solidFill>
                <a:latin typeface="Inter"/>
              </a:rPr>
              <a:t>Stéphane Holtzmann — DEV IA · Greta de Besançon   ·   Stage chez CoAI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